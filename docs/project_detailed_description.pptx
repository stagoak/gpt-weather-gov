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305" r:id="rId3"/>
    <p:sldId id="315" r:id="rId4"/>
    <p:sldId id="304" r:id="rId5"/>
    <p:sldId id="306" r:id="rId6"/>
    <p:sldId id="314" r:id="rId7"/>
    <p:sldId id="313" r:id="rId8"/>
    <p:sldId id="312" r:id="rId9"/>
    <p:sldId id="311" r:id="rId10"/>
    <p:sldId id="307" r:id="rId11"/>
    <p:sldId id="308" r:id="rId12"/>
    <p:sldId id="309" r:id="rId13"/>
    <p:sldId id="31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43"/>
    <p:restoredTop sz="94829"/>
  </p:normalViewPr>
  <p:slideViewPr>
    <p:cSldViewPr snapToGrid="0">
      <p:cViewPr varScale="1">
        <p:scale>
          <a:sx n="141" d="100"/>
          <a:sy n="141" d="100"/>
        </p:scale>
        <p:origin x="208" y="3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3D2A1A-D27B-CD4A-8CA8-A7848AC5EECE}" type="datetimeFigureOut">
              <a:rPr lang="en-US" smtClean="0"/>
              <a:t>7/18/26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66A9E1-D43C-1D4A-9A27-A81EA54FD63C}" type="slidenum">
              <a:rPr lang="en-US" smtClean="0"/>
              <a:t>‹#›</a:t>
            </a:fld>
            <a:endParaRPr lang="en-US"/>
          </a:p>
        </p:txBody>
      </p:sp>
    </p:spTree>
    <p:extLst>
      <p:ext uri="{BB962C8B-B14F-4D97-AF65-F5344CB8AC3E}">
        <p14:creationId xmlns:p14="http://schemas.microsoft.com/office/powerpoint/2010/main" val="2436365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66A9E1-D43C-1D4A-9A27-A81EA54FD63C}" type="slidenum">
              <a:rPr lang="en-US" smtClean="0"/>
              <a:t>5</a:t>
            </a:fld>
            <a:endParaRPr lang="en-US"/>
          </a:p>
        </p:txBody>
      </p:sp>
    </p:spTree>
    <p:extLst>
      <p:ext uri="{BB962C8B-B14F-4D97-AF65-F5344CB8AC3E}">
        <p14:creationId xmlns:p14="http://schemas.microsoft.com/office/powerpoint/2010/main" val="15595621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E8152-9A0B-4F9D-1E04-202ED8E435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03040D-B2CA-D93E-D760-31FADD8B7C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4551EA-6EB0-6EE6-4B6C-C8761FE9B7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CF6B85-B857-1948-AB34-C080A62A9B2E}"/>
              </a:ext>
            </a:extLst>
          </p:cNvPr>
          <p:cNvSpPr>
            <a:spLocks noGrp="1"/>
          </p:cNvSpPr>
          <p:nvPr>
            <p:ph type="sldNum" sz="quarter" idx="5"/>
          </p:nvPr>
        </p:nvSpPr>
        <p:spPr/>
        <p:txBody>
          <a:bodyPr/>
          <a:lstStyle/>
          <a:p>
            <a:fld id="{8366A9E1-D43C-1D4A-9A27-A81EA54FD63C}" type="slidenum">
              <a:rPr lang="en-US" smtClean="0"/>
              <a:t>6</a:t>
            </a:fld>
            <a:endParaRPr lang="en-US"/>
          </a:p>
        </p:txBody>
      </p:sp>
    </p:spTree>
    <p:extLst>
      <p:ext uri="{BB962C8B-B14F-4D97-AF65-F5344CB8AC3E}">
        <p14:creationId xmlns:p14="http://schemas.microsoft.com/office/powerpoint/2010/main" val="3098810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4425F-5C03-D798-E61B-3D00049439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A1F7E0-F89B-E48B-FEED-502A64049C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42D31-44A9-AD6A-FC29-BED319095E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FCEEE4-8C2C-37C5-D0E6-F9E91C67E750}"/>
              </a:ext>
            </a:extLst>
          </p:cNvPr>
          <p:cNvSpPr>
            <a:spLocks noGrp="1"/>
          </p:cNvSpPr>
          <p:nvPr>
            <p:ph type="sldNum" sz="quarter" idx="5"/>
          </p:nvPr>
        </p:nvSpPr>
        <p:spPr/>
        <p:txBody>
          <a:bodyPr/>
          <a:lstStyle/>
          <a:p>
            <a:fld id="{8366A9E1-D43C-1D4A-9A27-A81EA54FD63C}" type="slidenum">
              <a:rPr lang="en-US" smtClean="0"/>
              <a:t>7</a:t>
            </a:fld>
            <a:endParaRPr lang="en-US"/>
          </a:p>
        </p:txBody>
      </p:sp>
    </p:spTree>
    <p:extLst>
      <p:ext uri="{BB962C8B-B14F-4D97-AF65-F5344CB8AC3E}">
        <p14:creationId xmlns:p14="http://schemas.microsoft.com/office/powerpoint/2010/main" val="28918837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96573-6003-F1CE-7CD0-41078613F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9717BF-C527-4975-89F5-70BF3D7AE9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1DC045-4488-C339-745F-4DAC0426EC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D7A533-B83C-FB29-E966-7D1F1685BC26}"/>
              </a:ext>
            </a:extLst>
          </p:cNvPr>
          <p:cNvSpPr>
            <a:spLocks noGrp="1"/>
          </p:cNvSpPr>
          <p:nvPr>
            <p:ph type="sldNum" sz="quarter" idx="5"/>
          </p:nvPr>
        </p:nvSpPr>
        <p:spPr/>
        <p:txBody>
          <a:bodyPr/>
          <a:lstStyle/>
          <a:p>
            <a:fld id="{8366A9E1-D43C-1D4A-9A27-A81EA54FD63C}" type="slidenum">
              <a:rPr lang="en-US" smtClean="0"/>
              <a:t>8</a:t>
            </a:fld>
            <a:endParaRPr lang="en-US"/>
          </a:p>
        </p:txBody>
      </p:sp>
    </p:spTree>
    <p:extLst>
      <p:ext uri="{BB962C8B-B14F-4D97-AF65-F5344CB8AC3E}">
        <p14:creationId xmlns:p14="http://schemas.microsoft.com/office/powerpoint/2010/main" val="26975430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4B225-32DA-E921-8668-526E3F210D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D3709A-F6F5-D003-147E-BA9592FD7E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270C7-B7F5-3BBA-469E-5AC80C1C74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C3A7D3-6B84-3AB0-2F50-4CA8DE1321DC}"/>
              </a:ext>
            </a:extLst>
          </p:cNvPr>
          <p:cNvSpPr>
            <a:spLocks noGrp="1"/>
          </p:cNvSpPr>
          <p:nvPr>
            <p:ph type="sldNum" sz="quarter" idx="5"/>
          </p:nvPr>
        </p:nvSpPr>
        <p:spPr/>
        <p:txBody>
          <a:bodyPr/>
          <a:lstStyle/>
          <a:p>
            <a:fld id="{8366A9E1-D43C-1D4A-9A27-A81EA54FD63C}" type="slidenum">
              <a:rPr lang="en-US" smtClean="0"/>
              <a:t>9</a:t>
            </a:fld>
            <a:endParaRPr lang="en-US"/>
          </a:p>
        </p:txBody>
      </p:sp>
    </p:spTree>
    <p:extLst>
      <p:ext uri="{BB962C8B-B14F-4D97-AF65-F5344CB8AC3E}">
        <p14:creationId xmlns:p14="http://schemas.microsoft.com/office/powerpoint/2010/main" val="7566053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6716D-5CBB-1BC2-B285-467D1C5C49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3020583-41FC-3D23-3169-8E1B0D5CC0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5951B4-3D5D-C61C-AE00-FD5082C8B504}"/>
              </a:ext>
            </a:extLst>
          </p:cNvPr>
          <p:cNvSpPr>
            <a:spLocks noGrp="1"/>
          </p:cNvSpPr>
          <p:nvPr>
            <p:ph type="dt" sz="half" idx="10"/>
          </p:nvPr>
        </p:nvSpPr>
        <p:spPr/>
        <p:txBody>
          <a:bodyPr/>
          <a:lstStyle/>
          <a:p>
            <a:fld id="{55678513-2D32-6F46-947B-C39C925F23B0}" type="datetimeFigureOut">
              <a:rPr lang="en-US" smtClean="0"/>
              <a:t>7/18/26</a:t>
            </a:fld>
            <a:endParaRPr lang="en-US"/>
          </a:p>
        </p:txBody>
      </p:sp>
      <p:sp>
        <p:nvSpPr>
          <p:cNvPr id="5" name="Footer Placeholder 4">
            <a:extLst>
              <a:ext uri="{FF2B5EF4-FFF2-40B4-BE49-F238E27FC236}">
                <a16:creationId xmlns:a16="http://schemas.microsoft.com/office/drawing/2014/main" id="{7E8E5609-39C5-23C6-8808-14B26F5B05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AE4FF2-C998-3E61-F81C-192B10B852B0}"/>
              </a:ext>
            </a:extLst>
          </p:cNvPr>
          <p:cNvSpPr>
            <a:spLocks noGrp="1"/>
          </p:cNvSpPr>
          <p:nvPr>
            <p:ph type="sldNum" sz="quarter" idx="12"/>
          </p:nvPr>
        </p:nvSpPr>
        <p:spPr/>
        <p:txBody>
          <a:bodyPr/>
          <a:lstStyle/>
          <a:p>
            <a:fld id="{C85ADE27-2E06-364F-82BC-560304B806F9}" type="slidenum">
              <a:rPr lang="en-US" smtClean="0"/>
              <a:t>‹#›</a:t>
            </a:fld>
            <a:endParaRPr lang="en-US"/>
          </a:p>
        </p:txBody>
      </p:sp>
    </p:spTree>
    <p:extLst>
      <p:ext uri="{BB962C8B-B14F-4D97-AF65-F5344CB8AC3E}">
        <p14:creationId xmlns:p14="http://schemas.microsoft.com/office/powerpoint/2010/main" val="3120417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3E903-52DE-55E4-AAD3-E7DC3004A5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AF552C-8509-4173-A336-75870778CA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98CAB9-D049-AB08-412A-576C5E204189}"/>
              </a:ext>
            </a:extLst>
          </p:cNvPr>
          <p:cNvSpPr>
            <a:spLocks noGrp="1"/>
          </p:cNvSpPr>
          <p:nvPr>
            <p:ph type="dt" sz="half" idx="10"/>
          </p:nvPr>
        </p:nvSpPr>
        <p:spPr/>
        <p:txBody>
          <a:bodyPr/>
          <a:lstStyle/>
          <a:p>
            <a:fld id="{55678513-2D32-6F46-947B-C39C925F23B0}" type="datetimeFigureOut">
              <a:rPr lang="en-US" smtClean="0"/>
              <a:t>7/18/26</a:t>
            </a:fld>
            <a:endParaRPr lang="en-US"/>
          </a:p>
        </p:txBody>
      </p:sp>
      <p:sp>
        <p:nvSpPr>
          <p:cNvPr id="5" name="Footer Placeholder 4">
            <a:extLst>
              <a:ext uri="{FF2B5EF4-FFF2-40B4-BE49-F238E27FC236}">
                <a16:creationId xmlns:a16="http://schemas.microsoft.com/office/drawing/2014/main" id="{C059324D-D132-E6BD-3E7A-59C900E747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F577D4-5616-3C1B-C176-C97EC3AB419B}"/>
              </a:ext>
            </a:extLst>
          </p:cNvPr>
          <p:cNvSpPr>
            <a:spLocks noGrp="1"/>
          </p:cNvSpPr>
          <p:nvPr>
            <p:ph type="sldNum" sz="quarter" idx="12"/>
          </p:nvPr>
        </p:nvSpPr>
        <p:spPr/>
        <p:txBody>
          <a:bodyPr/>
          <a:lstStyle/>
          <a:p>
            <a:fld id="{C85ADE27-2E06-364F-82BC-560304B806F9}" type="slidenum">
              <a:rPr lang="en-US" smtClean="0"/>
              <a:t>‹#›</a:t>
            </a:fld>
            <a:endParaRPr lang="en-US"/>
          </a:p>
        </p:txBody>
      </p:sp>
    </p:spTree>
    <p:extLst>
      <p:ext uri="{BB962C8B-B14F-4D97-AF65-F5344CB8AC3E}">
        <p14:creationId xmlns:p14="http://schemas.microsoft.com/office/powerpoint/2010/main" val="1943998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F9FD3-DBB1-485B-0FC7-3973AD83DE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4D29F8-07D5-A9BA-2C57-670161A997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E69EA8-BE5C-B5D7-1BCC-36E4381E262D}"/>
              </a:ext>
            </a:extLst>
          </p:cNvPr>
          <p:cNvSpPr>
            <a:spLocks noGrp="1"/>
          </p:cNvSpPr>
          <p:nvPr>
            <p:ph type="dt" sz="half" idx="10"/>
          </p:nvPr>
        </p:nvSpPr>
        <p:spPr/>
        <p:txBody>
          <a:bodyPr/>
          <a:lstStyle/>
          <a:p>
            <a:fld id="{55678513-2D32-6F46-947B-C39C925F23B0}" type="datetimeFigureOut">
              <a:rPr lang="en-US" smtClean="0"/>
              <a:t>7/18/26</a:t>
            </a:fld>
            <a:endParaRPr lang="en-US"/>
          </a:p>
        </p:txBody>
      </p:sp>
      <p:sp>
        <p:nvSpPr>
          <p:cNvPr id="5" name="Footer Placeholder 4">
            <a:extLst>
              <a:ext uri="{FF2B5EF4-FFF2-40B4-BE49-F238E27FC236}">
                <a16:creationId xmlns:a16="http://schemas.microsoft.com/office/drawing/2014/main" id="{1EFFBE10-FC23-0C84-7A32-AD8DFC7ABD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17505E-5541-79BF-861F-5E4BCCD6137C}"/>
              </a:ext>
            </a:extLst>
          </p:cNvPr>
          <p:cNvSpPr>
            <a:spLocks noGrp="1"/>
          </p:cNvSpPr>
          <p:nvPr>
            <p:ph type="sldNum" sz="quarter" idx="12"/>
          </p:nvPr>
        </p:nvSpPr>
        <p:spPr/>
        <p:txBody>
          <a:bodyPr/>
          <a:lstStyle/>
          <a:p>
            <a:fld id="{C85ADE27-2E06-364F-82BC-560304B806F9}" type="slidenum">
              <a:rPr lang="en-US" smtClean="0"/>
              <a:t>‹#›</a:t>
            </a:fld>
            <a:endParaRPr lang="en-US"/>
          </a:p>
        </p:txBody>
      </p:sp>
    </p:spTree>
    <p:extLst>
      <p:ext uri="{BB962C8B-B14F-4D97-AF65-F5344CB8AC3E}">
        <p14:creationId xmlns:p14="http://schemas.microsoft.com/office/powerpoint/2010/main" val="3662635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944CF-8E38-CA2D-F18D-47874F1101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3CAEC4-836B-9D32-C569-EA0DDE5B07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3EB271-F323-A9E0-B368-7FAECCBFAE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FFB0CBB-941F-2227-3869-ECD839FAC680}"/>
              </a:ext>
            </a:extLst>
          </p:cNvPr>
          <p:cNvSpPr>
            <a:spLocks noGrp="1"/>
          </p:cNvSpPr>
          <p:nvPr>
            <p:ph type="dt" sz="half" idx="10"/>
          </p:nvPr>
        </p:nvSpPr>
        <p:spPr/>
        <p:txBody>
          <a:bodyPr/>
          <a:lstStyle/>
          <a:p>
            <a:fld id="{55678513-2D32-6F46-947B-C39C925F23B0}" type="datetimeFigureOut">
              <a:rPr lang="en-US" smtClean="0"/>
              <a:t>7/18/26</a:t>
            </a:fld>
            <a:endParaRPr lang="en-US"/>
          </a:p>
        </p:txBody>
      </p:sp>
      <p:sp>
        <p:nvSpPr>
          <p:cNvPr id="6" name="Footer Placeholder 5">
            <a:extLst>
              <a:ext uri="{FF2B5EF4-FFF2-40B4-BE49-F238E27FC236}">
                <a16:creationId xmlns:a16="http://schemas.microsoft.com/office/drawing/2014/main" id="{6C836010-555B-A1D4-0C5A-972827F7A2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14ED95-EA75-F771-BE3B-A2231D294D5D}"/>
              </a:ext>
            </a:extLst>
          </p:cNvPr>
          <p:cNvSpPr>
            <a:spLocks noGrp="1"/>
          </p:cNvSpPr>
          <p:nvPr>
            <p:ph type="sldNum" sz="quarter" idx="12"/>
          </p:nvPr>
        </p:nvSpPr>
        <p:spPr/>
        <p:txBody>
          <a:bodyPr/>
          <a:lstStyle/>
          <a:p>
            <a:fld id="{C85ADE27-2E06-364F-82BC-560304B806F9}" type="slidenum">
              <a:rPr lang="en-US" smtClean="0"/>
              <a:t>‹#›</a:t>
            </a:fld>
            <a:endParaRPr lang="en-US"/>
          </a:p>
        </p:txBody>
      </p:sp>
    </p:spTree>
    <p:extLst>
      <p:ext uri="{BB962C8B-B14F-4D97-AF65-F5344CB8AC3E}">
        <p14:creationId xmlns:p14="http://schemas.microsoft.com/office/powerpoint/2010/main" val="1253475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62A0A-F0F4-38F6-B6C4-5E173AF9C8A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6D3E8D0-9E52-067F-0176-9AAA2EFCBD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416F0C-8B6E-34E8-57D0-E0E51ABC6F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C04C0B-65BD-35D4-14B2-1047DBB6B3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4CC6AE-D4ED-4B27-8505-98F919561C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3C6466-484C-2880-A829-4BBC91896175}"/>
              </a:ext>
            </a:extLst>
          </p:cNvPr>
          <p:cNvSpPr>
            <a:spLocks noGrp="1"/>
          </p:cNvSpPr>
          <p:nvPr>
            <p:ph type="dt" sz="half" idx="10"/>
          </p:nvPr>
        </p:nvSpPr>
        <p:spPr/>
        <p:txBody>
          <a:bodyPr/>
          <a:lstStyle/>
          <a:p>
            <a:fld id="{55678513-2D32-6F46-947B-C39C925F23B0}" type="datetimeFigureOut">
              <a:rPr lang="en-US" smtClean="0"/>
              <a:t>7/18/26</a:t>
            </a:fld>
            <a:endParaRPr lang="en-US"/>
          </a:p>
        </p:txBody>
      </p:sp>
      <p:sp>
        <p:nvSpPr>
          <p:cNvPr id="8" name="Footer Placeholder 7">
            <a:extLst>
              <a:ext uri="{FF2B5EF4-FFF2-40B4-BE49-F238E27FC236}">
                <a16:creationId xmlns:a16="http://schemas.microsoft.com/office/drawing/2014/main" id="{21EB009D-6D71-C466-87EE-551111E5D9C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5F89E5B-D7D0-3A99-F45D-FA8619A1F0C6}"/>
              </a:ext>
            </a:extLst>
          </p:cNvPr>
          <p:cNvSpPr>
            <a:spLocks noGrp="1"/>
          </p:cNvSpPr>
          <p:nvPr>
            <p:ph type="sldNum" sz="quarter" idx="12"/>
          </p:nvPr>
        </p:nvSpPr>
        <p:spPr/>
        <p:txBody>
          <a:bodyPr/>
          <a:lstStyle/>
          <a:p>
            <a:fld id="{C85ADE27-2E06-364F-82BC-560304B806F9}" type="slidenum">
              <a:rPr lang="en-US" smtClean="0"/>
              <a:t>‹#›</a:t>
            </a:fld>
            <a:endParaRPr lang="en-US"/>
          </a:p>
        </p:txBody>
      </p:sp>
    </p:spTree>
    <p:extLst>
      <p:ext uri="{BB962C8B-B14F-4D97-AF65-F5344CB8AC3E}">
        <p14:creationId xmlns:p14="http://schemas.microsoft.com/office/powerpoint/2010/main" val="1391756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8D692-6624-BFFD-66EE-3B49E72F74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2C738E-AF7A-EE15-6F39-121AFE330084}"/>
              </a:ext>
            </a:extLst>
          </p:cNvPr>
          <p:cNvSpPr>
            <a:spLocks noGrp="1"/>
          </p:cNvSpPr>
          <p:nvPr>
            <p:ph type="dt" sz="half" idx="10"/>
          </p:nvPr>
        </p:nvSpPr>
        <p:spPr/>
        <p:txBody>
          <a:bodyPr/>
          <a:lstStyle/>
          <a:p>
            <a:fld id="{55678513-2D32-6F46-947B-C39C925F23B0}" type="datetimeFigureOut">
              <a:rPr lang="en-US" smtClean="0"/>
              <a:t>7/18/26</a:t>
            </a:fld>
            <a:endParaRPr lang="en-US"/>
          </a:p>
        </p:txBody>
      </p:sp>
      <p:sp>
        <p:nvSpPr>
          <p:cNvPr id="4" name="Footer Placeholder 3">
            <a:extLst>
              <a:ext uri="{FF2B5EF4-FFF2-40B4-BE49-F238E27FC236}">
                <a16:creationId xmlns:a16="http://schemas.microsoft.com/office/drawing/2014/main" id="{4CF82690-AEA1-C52C-B190-35C768EED35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532CD89-A8A5-536D-3FC8-E9439253DB21}"/>
              </a:ext>
            </a:extLst>
          </p:cNvPr>
          <p:cNvSpPr>
            <a:spLocks noGrp="1"/>
          </p:cNvSpPr>
          <p:nvPr>
            <p:ph type="sldNum" sz="quarter" idx="12"/>
          </p:nvPr>
        </p:nvSpPr>
        <p:spPr/>
        <p:txBody>
          <a:bodyPr/>
          <a:lstStyle/>
          <a:p>
            <a:fld id="{C85ADE27-2E06-364F-82BC-560304B806F9}" type="slidenum">
              <a:rPr lang="en-US" smtClean="0"/>
              <a:t>‹#›</a:t>
            </a:fld>
            <a:endParaRPr lang="en-US"/>
          </a:p>
        </p:txBody>
      </p:sp>
    </p:spTree>
    <p:extLst>
      <p:ext uri="{BB962C8B-B14F-4D97-AF65-F5344CB8AC3E}">
        <p14:creationId xmlns:p14="http://schemas.microsoft.com/office/powerpoint/2010/main" val="2263293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0A7B50-2DC1-58D9-DA8D-F42FD9AB4104}"/>
              </a:ext>
            </a:extLst>
          </p:cNvPr>
          <p:cNvSpPr>
            <a:spLocks noGrp="1"/>
          </p:cNvSpPr>
          <p:nvPr>
            <p:ph type="dt" sz="half" idx="10"/>
          </p:nvPr>
        </p:nvSpPr>
        <p:spPr/>
        <p:txBody>
          <a:bodyPr/>
          <a:lstStyle/>
          <a:p>
            <a:fld id="{55678513-2D32-6F46-947B-C39C925F23B0}" type="datetimeFigureOut">
              <a:rPr lang="en-US" smtClean="0"/>
              <a:t>7/18/26</a:t>
            </a:fld>
            <a:endParaRPr lang="en-US"/>
          </a:p>
        </p:txBody>
      </p:sp>
      <p:sp>
        <p:nvSpPr>
          <p:cNvPr id="3" name="Footer Placeholder 2">
            <a:extLst>
              <a:ext uri="{FF2B5EF4-FFF2-40B4-BE49-F238E27FC236}">
                <a16:creationId xmlns:a16="http://schemas.microsoft.com/office/drawing/2014/main" id="{7162609B-A6F7-4CF7-6538-FE1F2EDACC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B805A06-073E-9630-271A-E9399B87548E}"/>
              </a:ext>
            </a:extLst>
          </p:cNvPr>
          <p:cNvSpPr>
            <a:spLocks noGrp="1"/>
          </p:cNvSpPr>
          <p:nvPr>
            <p:ph type="sldNum" sz="quarter" idx="12"/>
          </p:nvPr>
        </p:nvSpPr>
        <p:spPr/>
        <p:txBody>
          <a:bodyPr/>
          <a:lstStyle/>
          <a:p>
            <a:fld id="{C85ADE27-2E06-364F-82BC-560304B806F9}" type="slidenum">
              <a:rPr lang="en-US" smtClean="0"/>
              <a:t>‹#›</a:t>
            </a:fld>
            <a:endParaRPr lang="en-US"/>
          </a:p>
        </p:txBody>
      </p:sp>
    </p:spTree>
    <p:extLst>
      <p:ext uri="{BB962C8B-B14F-4D97-AF65-F5344CB8AC3E}">
        <p14:creationId xmlns:p14="http://schemas.microsoft.com/office/powerpoint/2010/main" val="2635617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A0DEB-9DBD-37A8-33D0-8D638C82ED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0C6FB17-5089-0C7C-700D-58626246B5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A96D22-84B3-C9ED-A197-702E0C00A4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FDC3BD-4414-7404-0092-1FE41CEF50D4}"/>
              </a:ext>
            </a:extLst>
          </p:cNvPr>
          <p:cNvSpPr>
            <a:spLocks noGrp="1"/>
          </p:cNvSpPr>
          <p:nvPr>
            <p:ph type="dt" sz="half" idx="10"/>
          </p:nvPr>
        </p:nvSpPr>
        <p:spPr/>
        <p:txBody>
          <a:bodyPr/>
          <a:lstStyle/>
          <a:p>
            <a:fld id="{55678513-2D32-6F46-947B-C39C925F23B0}" type="datetimeFigureOut">
              <a:rPr lang="en-US" smtClean="0"/>
              <a:t>7/18/26</a:t>
            </a:fld>
            <a:endParaRPr lang="en-US"/>
          </a:p>
        </p:txBody>
      </p:sp>
      <p:sp>
        <p:nvSpPr>
          <p:cNvPr id="6" name="Footer Placeholder 5">
            <a:extLst>
              <a:ext uri="{FF2B5EF4-FFF2-40B4-BE49-F238E27FC236}">
                <a16:creationId xmlns:a16="http://schemas.microsoft.com/office/drawing/2014/main" id="{90CA3360-59E8-AB10-4667-EAC73764A0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638A24-AA2D-0E62-D2CA-4739BEB400F8}"/>
              </a:ext>
            </a:extLst>
          </p:cNvPr>
          <p:cNvSpPr>
            <a:spLocks noGrp="1"/>
          </p:cNvSpPr>
          <p:nvPr>
            <p:ph type="sldNum" sz="quarter" idx="12"/>
          </p:nvPr>
        </p:nvSpPr>
        <p:spPr/>
        <p:txBody>
          <a:bodyPr/>
          <a:lstStyle/>
          <a:p>
            <a:fld id="{C85ADE27-2E06-364F-82BC-560304B806F9}" type="slidenum">
              <a:rPr lang="en-US" smtClean="0"/>
              <a:t>‹#›</a:t>
            </a:fld>
            <a:endParaRPr lang="en-US"/>
          </a:p>
        </p:txBody>
      </p:sp>
    </p:spTree>
    <p:extLst>
      <p:ext uri="{BB962C8B-B14F-4D97-AF65-F5344CB8AC3E}">
        <p14:creationId xmlns:p14="http://schemas.microsoft.com/office/powerpoint/2010/main" val="25502732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9DAE6-7060-A417-4A18-3056F282BA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708374-10EB-8D7C-8E74-A9314DB6C1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43B94A-EF34-AB0F-4CCB-099383F91F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DAC110-C1C9-A6CB-2B81-030C7AC3A586}"/>
              </a:ext>
            </a:extLst>
          </p:cNvPr>
          <p:cNvSpPr>
            <a:spLocks noGrp="1"/>
          </p:cNvSpPr>
          <p:nvPr>
            <p:ph type="dt" sz="half" idx="10"/>
          </p:nvPr>
        </p:nvSpPr>
        <p:spPr/>
        <p:txBody>
          <a:bodyPr/>
          <a:lstStyle/>
          <a:p>
            <a:fld id="{55678513-2D32-6F46-947B-C39C925F23B0}" type="datetimeFigureOut">
              <a:rPr lang="en-US" smtClean="0"/>
              <a:t>7/18/26</a:t>
            </a:fld>
            <a:endParaRPr lang="en-US"/>
          </a:p>
        </p:txBody>
      </p:sp>
      <p:sp>
        <p:nvSpPr>
          <p:cNvPr id="6" name="Footer Placeholder 5">
            <a:extLst>
              <a:ext uri="{FF2B5EF4-FFF2-40B4-BE49-F238E27FC236}">
                <a16:creationId xmlns:a16="http://schemas.microsoft.com/office/drawing/2014/main" id="{C6A0384C-039A-EF26-4C99-E9151F4B90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666A38-A0D1-0E0B-B121-98FB76F11B3B}"/>
              </a:ext>
            </a:extLst>
          </p:cNvPr>
          <p:cNvSpPr>
            <a:spLocks noGrp="1"/>
          </p:cNvSpPr>
          <p:nvPr>
            <p:ph type="sldNum" sz="quarter" idx="12"/>
          </p:nvPr>
        </p:nvSpPr>
        <p:spPr/>
        <p:txBody>
          <a:bodyPr/>
          <a:lstStyle/>
          <a:p>
            <a:fld id="{C85ADE27-2E06-364F-82BC-560304B806F9}" type="slidenum">
              <a:rPr lang="en-US" smtClean="0"/>
              <a:t>‹#›</a:t>
            </a:fld>
            <a:endParaRPr lang="en-US"/>
          </a:p>
        </p:txBody>
      </p:sp>
    </p:spTree>
    <p:extLst>
      <p:ext uri="{BB962C8B-B14F-4D97-AF65-F5344CB8AC3E}">
        <p14:creationId xmlns:p14="http://schemas.microsoft.com/office/powerpoint/2010/main" val="3199960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6E30E-BB72-E869-C786-F85A58BFE0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1BB672B-7C38-2F74-B0D9-25AEECE529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B03204-3079-1B8F-3687-481851EBB862}"/>
              </a:ext>
            </a:extLst>
          </p:cNvPr>
          <p:cNvSpPr>
            <a:spLocks noGrp="1"/>
          </p:cNvSpPr>
          <p:nvPr>
            <p:ph type="dt" sz="half" idx="10"/>
          </p:nvPr>
        </p:nvSpPr>
        <p:spPr/>
        <p:txBody>
          <a:bodyPr/>
          <a:lstStyle/>
          <a:p>
            <a:fld id="{55678513-2D32-6F46-947B-C39C925F23B0}" type="datetimeFigureOut">
              <a:rPr lang="en-US" smtClean="0"/>
              <a:t>7/18/26</a:t>
            </a:fld>
            <a:endParaRPr lang="en-US"/>
          </a:p>
        </p:txBody>
      </p:sp>
      <p:sp>
        <p:nvSpPr>
          <p:cNvPr id="5" name="Footer Placeholder 4">
            <a:extLst>
              <a:ext uri="{FF2B5EF4-FFF2-40B4-BE49-F238E27FC236}">
                <a16:creationId xmlns:a16="http://schemas.microsoft.com/office/drawing/2014/main" id="{1E775BB8-130D-01C2-A564-9B977458D1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544772-59F2-EB2B-57C0-E81B73B5C250}"/>
              </a:ext>
            </a:extLst>
          </p:cNvPr>
          <p:cNvSpPr>
            <a:spLocks noGrp="1"/>
          </p:cNvSpPr>
          <p:nvPr>
            <p:ph type="sldNum" sz="quarter" idx="12"/>
          </p:nvPr>
        </p:nvSpPr>
        <p:spPr/>
        <p:txBody>
          <a:bodyPr/>
          <a:lstStyle/>
          <a:p>
            <a:fld id="{C85ADE27-2E06-364F-82BC-560304B806F9}" type="slidenum">
              <a:rPr lang="en-US" smtClean="0"/>
              <a:t>‹#›</a:t>
            </a:fld>
            <a:endParaRPr lang="en-US"/>
          </a:p>
        </p:txBody>
      </p:sp>
    </p:spTree>
    <p:extLst>
      <p:ext uri="{BB962C8B-B14F-4D97-AF65-F5344CB8AC3E}">
        <p14:creationId xmlns:p14="http://schemas.microsoft.com/office/powerpoint/2010/main" val="2071493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E9EE0F-E52B-63A6-DE2C-C77E49C3BDD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B9859A9-1551-BDA7-49C8-739B849915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209B77-AD24-BBCE-A717-DCFC5D845ED5}"/>
              </a:ext>
            </a:extLst>
          </p:cNvPr>
          <p:cNvSpPr>
            <a:spLocks noGrp="1"/>
          </p:cNvSpPr>
          <p:nvPr>
            <p:ph type="dt" sz="half" idx="10"/>
          </p:nvPr>
        </p:nvSpPr>
        <p:spPr/>
        <p:txBody>
          <a:bodyPr/>
          <a:lstStyle/>
          <a:p>
            <a:fld id="{55678513-2D32-6F46-947B-C39C925F23B0}" type="datetimeFigureOut">
              <a:rPr lang="en-US" smtClean="0"/>
              <a:t>7/18/26</a:t>
            </a:fld>
            <a:endParaRPr lang="en-US"/>
          </a:p>
        </p:txBody>
      </p:sp>
      <p:sp>
        <p:nvSpPr>
          <p:cNvPr id="5" name="Footer Placeholder 4">
            <a:extLst>
              <a:ext uri="{FF2B5EF4-FFF2-40B4-BE49-F238E27FC236}">
                <a16:creationId xmlns:a16="http://schemas.microsoft.com/office/drawing/2014/main" id="{EB312608-A358-867F-0A3F-8E4677CF81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43BBC1-F548-A7BF-FCB5-CD9C86A9F73B}"/>
              </a:ext>
            </a:extLst>
          </p:cNvPr>
          <p:cNvSpPr>
            <a:spLocks noGrp="1"/>
          </p:cNvSpPr>
          <p:nvPr>
            <p:ph type="sldNum" sz="quarter" idx="12"/>
          </p:nvPr>
        </p:nvSpPr>
        <p:spPr/>
        <p:txBody>
          <a:bodyPr/>
          <a:lstStyle/>
          <a:p>
            <a:fld id="{C85ADE27-2E06-364F-82BC-560304B806F9}" type="slidenum">
              <a:rPr lang="en-US" smtClean="0"/>
              <a:t>‹#›</a:t>
            </a:fld>
            <a:endParaRPr lang="en-US"/>
          </a:p>
        </p:txBody>
      </p:sp>
    </p:spTree>
    <p:extLst>
      <p:ext uri="{BB962C8B-B14F-4D97-AF65-F5344CB8AC3E}">
        <p14:creationId xmlns:p14="http://schemas.microsoft.com/office/powerpoint/2010/main" val="3551063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A710BD-E49D-9B2A-120F-6F2D3662EE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5762CC-D528-39DB-3FDB-0BA2B39004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96826E-1786-FC70-F81E-62AAD4FE26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678513-2D32-6F46-947B-C39C925F23B0}" type="datetimeFigureOut">
              <a:rPr lang="en-US" smtClean="0"/>
              <a:t>7/18/26</a:t>
            </a:fld>
            <a:endParaRPr lang="en-US"/>
          </a:p>
        </p:txBody>
      </p:sp>
      <p:sp>
        <p:nvSpPr>
          <p:cNvPr id="5" name="Footer Placeholder 4">
            <a:extLst>
              <a:ext uri="{FF2B5EF4-FFF2-40B4-BE49-F238E27FC236}">
                <a16:creationId xmlns:a16="http://schemas.microsoft.com/office/drawing/2014/main" id="{C85239E2-CAA1-5252-2C40-B7CA3E0F21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FA384DB-13C1-2155-CD02-27DC656320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5ADE27-2E06-364F-82BC-560304B806F9}" type="slidenum">
              <a:rPr lang="en-US" smtClean="0"/>
              <a:t>‹#›</a:t>
            </a:fld>
            <a:endParaRPr lang="en-US"/>
          </a:p>
        </p:txBody>
      </p:sp>
    </p:spTree>
    <p:extLst>
      <p:ext uri="{BB962C8B-B14F-4D97-AF65-F5344CB8AC3E}">
        <p14:creationId xmlns:p14="http://schemas.microsoft.com/office/powerpoint/2010/main" val="16192435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share.google/aimode/mDqkxwan39dppnEyc"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F1360-8FB9-147F-7721-58460DF2CD6D}"/>
              </a:ext>
            </a:extLst>
          </p:cNvPr>
          <p:cNvSpPr>
            <a:spLocks noGrp="1"/>
          </p:cNvSpPr>
          <p:nvPr>
            <p:ph type="ctrTitle"/>
          </p:nvPr>
        </p:nvSpPr>
        <p:spPr>
          <a:xfrm>
            <a:off x="1524000" y="1624640"/>
            <a:ext cx="9144000" cy="2387600"/>
          </a:xfrm>
        </p:spPr>
        <p:txBody>
          <a:bodyPr/>
          <a:lstStyle/>
          <a:p>
            <a:r>
              <a:rPr lang="en-US" dirty="0">
                <a:latin typeface="Arial" panose="020B0604020202020204" pitchFamily="34" charset="0"/>
                <a:cs typeface="Arial" panose="020B0604020202020204" pitchFamily="34" charset="0"/>
              </a:rPr>
              <a:t>project detailed description</a:t>
            </a:r>
          </a:p>
        </p:txBody>
      </p:sp>
      <p:sp>
        <p:nvSpPr>
          <p:cNvPr id="4" name="TextBox 3">
            <a:extLst>
              <a:ext uri="{FF2B5EF4-FFF2-40B4-BE49-F238E27FC236}">
                <a16:creationId xmlns:a16="http://schemas.microsoft.com/office/drawing/2014/main" id="{035D5FA0-7BF4-5355-6B5E-6A6CFBDD1028}"/>
              </a:ext>
            </a:extLst>
          </p:cNvPr>
          <p:cNvSpPr txBox="1"/>
          <p:nvPr/>
        </p:nvSpPr>
        <p:spPr>
          <a:xfrm>
            <a:off x="3329413" y="5002527"/>
            <a:ext cx="6097508" cy="461665"/>
          </a:xfrm>
          <a:prstGeom prst="rect">
            <a:avLst/>
          </a:prstGeom>
          <a:noFill/>
        </p:spPr>
        <p:txBody>
          <a:bodyPr wrap="square">
            <a:spAutoFit/>
          </a:bodyPr>
          <a:lstStyle/>
          <a:p>
            <a:r>
              <a:rPr lang="en-US" sz="1200" b="0" i="0" u="none" strike="noStrike" dirty="0">
                <a:solidFill>
                  <a:srgbClr val="000000"/>
                </a:solidFill>
                <a:effectLst/>
                <a:latin typeface="Arial" panose="020B0604020202020204" pitchFamily="34" charset="0"/>
                <a:cs typeface="Arial" panose="020B0604020202020204" pitchFamily="34" charset="0"/>
              </a:rPr>
              <a:t>Google Search </a:t>
            </a:r>
            <a:r>
              <a:rPr lang="en-US" sz="1200" b="1" u="none" strike="noStrike" dirty="0">
                <a:effectLst/>
                <a:latin typeface="Arial" panose="020B0604020202020204" pitchFamily="34" charset="0"/>
                <a:cs typeface="Arial" panose="020B0604020202020204" pitchFamily="34" charset="0"/>
              </a:rPr>
              <a:t>Gemini</a:t>
            </a:r>
            <a:r>
              <a:rPr lang="en-US" sz="1200" dirty="0">
                <a:latin typeface="Arial" panose="020B0604020202020204" pitchFamily="34" charset="0"/>
                <a:cs typeface="Arial" panose="020B0604020202020204" pitchFamily="34" charset="0"/>
              </a:rPr>
              <a:t> large language model chat link developed for this work:</a:t>
            </a:r>
          </a:p>
          <a:p>
            <a:r>
              <a:rPr lang="en-US" sz="1200" dirty="0">
                <a:latin typeface="Arial" panose="020B0604020202020204" pitchFamily="34" charset="0"/>
                <a:cs typeface="Arial" panose="020B0604020202020204" pitchFamily="34" charset="0"/>
                <a:hlinkClick r:id="rId2"/>
              </a:rPr>
              <a:t>https://share.google/aimode/mDqkxwan39dppnEyc</a:t>
            </a:r>
            <a:r>
              <a:rPr lang="en-US" sz="12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60330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6A928-9C95-8EBA-50A0-C2F8C797C9C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23DAED4-1F6C-371A-641B-340F71134B3E}"/>
              </a:ext>
            </a:extLst>
          </p:cNvPr>
          <p:cNvSpPr txBox="1"/>
          <p:nvPr/>
        </p:nvSpPr>
        <p:spPr>
          <a:xfrm>
            <a:off x="278068" y="239655"/>
            <a:ext cx="11626549" cy="2308324"/>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eli5 "set up a local Python development environment to build, host, and expose an API (e.g., using </a:t>
            </a:r>
            <a:r>
              <a:rPr lang="en-US" sz="3600" dirty="0" err="1">
                <a:latin typeface="Arial" panose="020B0604020202020204" pitchFamily="34" charset="0"/>
                <a:cs typeface="Arial" panose="020B0604020202020204" pitchFamily="34" charset="0"/>
              </a:rPr>
              <a:t>FastAPI</a:t>
            </a:r>
            <a:r>
              <a:rPr lang="en-US" sz="3600" dirty="0">
                <a:latin typeface="Arial" panose="020B0604020202020204" pitchFamily="34" charset="0"/>
                <a:cs typeface="Arial" panose="020B0604020202020204" pitchFamily="34" charset="0"/>
              </a:rPr>
              <a:t>) that translates OpenAI's requests into official National Weather Service (NWS) API calls"</a:t>
            </a:r>
          </a:p>
        </p:txBody>
      </p:sp>
      <p:pic>
        <p:nvPicPr>
          <p:cNvPr id="7" name="Picture 6">
            <a:extLst>
              <a:ext uri="{FF2B5EF4-FFF2-40B4-BE49-F238E27FC236}">
                <a16:creationId xmlns:a16="http://schemas.microsoft.com/office/drawing/2014/main" id="{023AC600-390A-2A57-6955-C049D9DD196A}"/>
              </a:ext>
            </a:extLst>
          </p:cNvPr>
          <p:cNvPicPr>
            <a:picLocks noChangeAspect="1"/>
          </p:cNvPicPr>
          <p:nvPr/>
        </p:nvPicPr>
        <p:blipFill>
          <a:blip r:embed="rId2"/>
          <a:stretch>
            <a:fillRect/>
          </a:stretch>
        </p:blipFill>
        <p:spPr>
          <a:xfrm>
            <a:off x="278068" y="3316209"/>
            <a:ext cx="7289800" cy="2362200"/>
          </a:xfrm>
          <a:prstGeom prst="rect">
            <a:avLst/>
          </a:prstGeom>
        </p:spPr>
      </p:pic>
    </p:spTree>
    <p:extLst>
      <p:ext uri="{BB962C8B-B14F-4D97-AF65-F5344CB8AC3E}">
        <p14:creationId xmlns:p14="http://schemas.microsoft.com/office/powerpoint/2010/main" val="3963537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6F2BA-3D5E-7A0E-0880-AF997B13B8C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A74FAAE-A4A1-6738-5851-C10132A3367A}"/>
              </a:ext>
            </a:extLst>
          </p:cNvPr>
          <p:cNvSpPr txBox="1"/>
          <p:nvPr/>
        </p:nvSpPr>
        <p:spPr>
          <a:xfrm>
            <a:off x="278068" y="239655"/>
            <a:ext cx="11626549"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What role does ChatGPT play in this Project?</a:t>
            </a:r>
          </a:p>
        </p:txBody>
      </p:sp>
      <p:pic>
        <p:nvPicPr>
          <p:cNvPr id="2" name="Picture 1">
            <a:extLst>
              <a:ext uri="{FF2B5EF4-FFF2-40B4-BE49-F238E27FC236}">
                <a16:creationId xmlns:a16="http://schemas.microsoft.com/office/drawing/2014/main" id="{4925F9DC-9929-B5FA-2490-1A18D83C3F22}"/>
              </a:ext>
            </a:extLst>
          </p:cNvPr>
          <p:cNvPicPr>
            <a:picLocks noChangeAspect="1"/>
          </p:cNvPicPr>
          <p:nvPr/>
        </p:nvPicPr>
        <p:blipFill>
          <a:blip r:embed="rId2"/>
          <a:stretch>
            <a:fillRect/>
          </a:stretch>
        </p:blipFill>
        <p:spPr>
          <a:xfrm>
            <a:off x="687371" y="1210491"/>
            <a:ext cx="4849715" cy="5027764"/>
          </a:xfrm>
          <a:prstGeom prst="rect">
            <a:avLst/>
          </a:prstGeom>
        </p:spPr>
      </p:pic>
      <p:pic>
        <p:nvPicPr>
          <p:cNvPr id="3" name="Picture 2">
            <a:extLst>
              <a:ext uri="{FF2B5EF4-FFF2-40B4-BE49-F238E27FC236}">
                <a16:creationId xmlns:a16="http://schemas.microsoft.com/office/drawing/2014/main" id="{EF683314-E4F3-1F8F-FAD1-5FD07E1B5505}"/>
              </a:ext>
            </a:extLst>
          </p:cNvPr>
          <p:cNvPicPr>
            <a:picLocks noChangeAspect="1"/>
          </p:cNvPicPr>
          <p:nvPr/>
        </p:nvPicPr>
        <p:blipFill>
          <a:blip r:embed="rId3"/>
          <a:stretch>
            <a:fillRect/>
          </a:stretch>
        </p:blipFill>
        <p:spPr>
          <a:xfrm>
            <a:off x="6300348" y="1210491"/>
            <a:ext cx="4849715" cy="1883223"/>
          </a:xfrm>
          <a:prstGeom prst="rect">
            <a:avLst/>
          </a:prstGeom>
        </p:spPr>
      </p:pic>
      <p:pic>
        <p:nvPicPr>
          <p:cNvPr id="6" name="Picture 5">
            <a:extLst>
              <a:ext uri="{FF2B5EF4-FFF2-40B4-BE49-F238E27FC236}">
                <a16:creationId xmlns:a16="http://schemas.microsoft.com/office/drawing/2014/main" id="{20CD741F-1075-23BE-BCA2-24E4C4B5503B}"/>
              </a:ext>
            </a:extLst>
          </p:cNvPr>
          <p:cNvPicPr>
            <a:picLocks noChangeAspect="1"/>
          </p:cNvPicPr>
          <p:nvPr/>
        </p:nvPicPr>
        <p:blipFill>
          <a:blip r:embed="rId4"/>
          <a:stretch>
            <a:fillRect/>
          </a:stretch>
        </p:blipFill>
        <p:spPr>
          <a:xfrm>
            <a:off x="6348290" y="3910149"/>
            <a:ext cx="5156339" cy="1737360"/>
          </a:xfrm>
          <a:prstGeom prst="rect">
            <a:avLst/>
          </a:prstGeom>
          <a:ln>
            <a:solidFill>
              <a:schemeClr val="tx1"/>
            </a:solidFill>
          </a:ln>
        </p:spPr>
      </p:pic>
    </p:spTree>
    <p:extLst>
      <p:ext uri="{BB962C8B-B14F-4D97-AF65-F5344CB8AC3E}">
        <p14:creationId xmlns:p14="http://schemas.microsoft.com/office/powerpoint/2010/main" val="15939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99C3A-B1FE-B55E-DC47-848F3A8686C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AE1A41E-8AB4-E9CE-41FB-65D78F1A6781}"/>
              </a:ext>
            </a:extLst>
          </p:cNvPr>
          <p:cNvSpPr txBox="1"/>
          <p:nvPr/>
        </p:nvSpPr>
        <p:spPr>
          <a:xfrm>
            <a:off x="278068" y="239655"/>
            <a:ext cx="11626549"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System Architecture</a:t>
            </a:r>
          </a:p>
        </p:txBody>
      </p:sp>
      <p:pic>
        <p:nvPicPr>
          <p:cNvPr id="2" name="Picture 1">
            <a:extLst>
              <a:ext uri="{FF2B5EF4-FFF2-40B4-BE49-F238E27FC236}">
                <a16:creationId xmlns:a16="http://schemas.microsoft.com/office/drawing/2014/main" id="{EDA2A95E-29BD-BBF8-C2CC-F707BE3B75F2}"/>
              </a:ext>
            </a:extLst>
          </p:cNvPr>
          <p:cNvPicPr>
            <a:picLocks noChangeAspect="1"/>
          </p:cNvPicPr>
          <p:nvPr/>
        </p:nvPicPr>
        <p:blipFill>
          <a:blip r:embed="rId2"/>
          <a:stretch>
            <a:fillRect/>
          </a:stretch>
        </p:blipFill>
        <p:spPr>
          <a:xfrm>
            <a:off x="278068" y="999508"/>
            <a:ext cx="4873481" cy="5618837"/>
          </a:xfrm>
          <a:prstGeom prst="rect">
            <a:avLst/>
          </a:prstGeom>
        </p:spPr>
      </p:pic>
      <p:sp>
        <p:nvSpPr>
          <p:cNvPr id="7" name="TextBox 6">
            <a:extLst>
              <a:ext uri="{FF2B5EF4-FFF2-40B4-BE49-F238E27FC236}">
                <a16:creationId xmlns:a16="http://schemas.microsoft.com/office/drawing/2014/main" id="{AB8CBB41-F3CC-0096-12F5-32DE8C02C259}"/>
              </a:ext>
            </a:extLst>
          </p:cNvPr>
          <p:cNvSpPr txBox="1"/>
          <p:nvPr/>
        </p:nvSpPr>
        <p:spPr>
          <a:xfrm>
            <a:off x="5911913" y="646423"/>
            <a:ext cx="5612460" cy="1754326"/>
          </a:xfrm>
          <a:prstGeom prst="rect">
            <a:avLst/>
          </a:prstGeom>
          <a:noFill/>
        </p:spPr>
        <p:txBody>
          <a:bodyPr wrap="square" rtlCol="0">
            <a:spAutoFit/>
          </a:bodyPr>
          <a:lstStyle/>
          <a:p>
            <a:pPr algn="l"/>
            <a:r>
              <a:rPr lang="en-US" sz="1200" dirty="0">
                <a:latin typeface="Arial" panose="020B0604020202020204" pitchFamily="34" charset="0"/>
                <a:cs typeface="Arial" panose="020B0604020202020204" pitchFamily="34" charset="0"/>
              </a:rPr>
              <a:t>This is the custom GPT I created on </a:t>
            </a:r>
            <a:r>
              <a:rPr lang="en-US" sz="1200" dirty="0" err="1">
                <a:latin typeface="Arial" panose="020B0604020202020204" pitchFamily="34" charset="0"/>
                <a:cs typeface="Arial" panose="020B0604020202020204" pitchFamily="34" charset="0"/>
              </a:rPr>
              <a:t>ChatGPT.com</a:t>
            </a:r>
            <a:r>
              <a:rPr lang="en-US" sz="1200" dirty="0">
                <a:latin typeface="Arial" panose="020B0604020202020204" pitchFamily="34" charset="0"/>
                <a:cs typeface="Arial" panose="020B0604020202020204" pitchFamily="34" charset="0"/>
              </a:rPr>
              <a:t>.</a:t>
            </a:r>
          </a:p>
          <a:p>
            <a:pPr algn="l"/>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By selecting this Chat GPT and initiating a chat I can use the </a:t>
            </a:r>
            <a:r>
              <a:rPr lang="en-US" sz="1200" dirty="0" err="1">
                <a:latin typeface="Arial" panose="020B0604020202020204" pitchFamily="34" charset="0"/>
                <a:cs typeface="Arial" panose="020B0604020202020204" pitchFamily="34" charset="0"/>
              </a:rPr>
              <a:t>FastAPI</a:t>
            </a:r>
            <a:r>
              <a:rPr lang="en-US" sz="1200" dirty="0">
                <a:latin typeface="Arial" panose="020B0604020202020204" pitchFamily="34" charset="0"/>
                <a:cs typeface="Arial" panose="020B0604020202020204" pitchFamily="34" charset="0"/>
              </a:rPr>
              <a:t> bridge hosted on my local computer to take a natural language question and translate it into a JSON the National Weather Service (NWS) API specifications. Once translated it gets the official weather and translates it back into natural language.</a:t>
            </a:r>
          </a:p>
          <a:p>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The box below is an example of the system at work.</a:t>
            </a:r>
          </a:p>
        </p:txBody>
      </p:sp>
      <p:pic>
        <p:nvPicPr>
          <p:cNvPr id="8" name="Picture 7">
            <a:extLst>
              <a:ext uri="{FF2B5EF4-FFF2-40B4-BE49-F238E27FC236}">
                <a16:creationId xmlns:a16="http://schemas.microsoft.com/office/drawing/2014/main" id="{CF269678-E2C2-F954-6459-25A3165259DD}"/>
              </a:ext>
            </a:extLst>
          </p:cNvPr>
          <p:cNvPicPr>
            <a:picLocks noChangeAspect="1"/>
          </p:cNvPicPr>
          <p:nvPr/>
        </p:nvPicPr>
        <p:blipFill>
          <a:blip r:embed="rId3"/>
          <a:stretch>
            <a:fillRect/>
          </a:stretch>
        </p:blipFill>
        <p:spPr>
          <a:xfrm>
            <a:off x="5688681" y="2813219"/>
            <a:ext cx="5770872" cy="3181075"/>
          </a:xfrm>
          <a:prstGeom prst="rect">
            <a:avLst/>
          </a:prstGeom>
          <a:solidFill>
            <a:schemeClr val="accent1"/>
          </a:solidFill>
          <a:ln>
            <a:solidFill>
              <a:schemeClr val="tx1"/>
            </a:solidFill>
          </a:ln>
        </p:spPr>
      </p:pic>
      <p:sp>
        <p:nvSpPr>
          <p:cNvPr id="9" name="Rectangle 8">
            <a:extLst>
              <a:ext uri="{FF2B5EF4-FFF2-40B4-BE49-F238E27FC236}">
                <a16:creationId xmlns:a16="http://schemas.microsoft.com/office/drawing/2014/main" id="{1DE51B52-8F24-C4D0-D9E9-39CB10901134}"/>
              </a:ext>
            </a:extLst>
          </p:cNvPr>
          <p:cNvSpPr/>
          <p:nvPr/>
        </p:nvSpPr>
        <p:spPr>
          <a:xfrm>
            <a:off x="278068" y="999508"/>
            <a:ext cx="1559785" cy="240817"/>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F4041CA-FB70-0656-7B31-B572B567956B}"/>
              </a:ext>
            </a:extLst>
          </p:cNvPr>
          <p:cNvSpPr/>
          <p:nvPr/>
        </p:nvSpPr>
        <p:spPr>
          <a:xfrm>
            <a:off x="278068" y="6330489"/>
            <a:ext cx="1559785" cy="240817"/>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6634CD71-BBEE-89E2-B870-0513946D0F9D}"/>
              </a:ext>
            </a:extLst>
          </p:cNvPr>
          <p:cNvCxnSpPr/>
          <p:nvPr/>
        </p:nvCxnSpPr>
        <p:spPr>
          <a:xfrm flipH="1" flipV="1">
            <a:off x="1837853" y="1119916"/>
            <a:ext cx="7152238" cy="23928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C50043D2-B705-5B02-156E-4A00B1D20874}"/>
              </a:ext>
            </a:extLst>
          </p:cNvPr>
          <p:cNvSpPr/>
          <p:nvPr/>
        </p:nvSpPr>
        <p:spPr>
          <a:xfrm>
            <a:off x="8990091" y="3429000"/>
            <a:ext cx="2469462" cy="240817"/>
          </a:xfrm>
          <a:prstGeom prst="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409A666-CDD7-E81E-51A4-8C5D6E20760D}"/>
              </a:ext>
            </a:extLst>
          </p:cNvPr>
          <p:cNvSpPr/>
          <p:nvPr/>
        </p:nvSpPr>
        <p:spPr>
          <a:xfrm>
            <a:off x="6734269" y="3925215"/>
            <a:ext cx="4725284" cy="1742254"/>
          </a:xfrm>
          <a:prstGeom prst="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277FFF08-1232-D8F7-A885-F68AA3AC914E}"/>
              </a:ext>
            </a:extLst>
          </p:cNvPr>
          <p:cNvCxnSpPr>
            <a:cxnSpLocks/>
          </p:cNvCxnSpPr>
          <p:nvPr/>
        </p:nvCxnSpPr>
        <p:spPr>
          <a:xfrm flipV="1">
            <a:off x="1837853" y="4671588"/>
            <a:ext cx="4896416" cy="17793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2192D79C-CAD7-DED3-B2C1-C65C8196D0FA}"/>
              </a:ext>
            </a:extLst>
          </p:cNvPr>
          <p:cNvSpPr txBox="1"/>
          <p:nvPr/>
        </p:nvSpPr>
        <p:spPr>
          <a:xfrm>
            <a:off x="8990091" y="3152001"/>
            <a:ext cx="662361" cy="276999"/>
          </a:xfrm>
          <a:prstGeom prst="rect">
            <a:avLst/>
          </a:prstGeom>
          <a:solidFill>
            <a:schemeClr val="accent1"/>
          </a:solidFill>
        </p:spPr>
        <p:txBody>
          <a:bodyPr wrap="none" rtlCol="0">
            <a:spAutoFit/>
          </a:bodyPr>
          <a:lstStyle/>
          <a:p>
            <a:pPr algn="l"/>
            <a:r>
              <a:rPr lang="en-US" sz="1200" dirty="0">
                <a:solidFill>
                  <a:schemeClr val="bg1"/>
                </a:solidFill>
                <a:latin typeface="Arial" panose="020B0604020202020204" pitchFamily="34" charset="0"/>
                <a:cs typeface="Arial" panose="020B0604020202020204" pitchFamily="34" charset="0"/>
              </a:rPr>
              <a:t>prompt</a:t>
            </a:r>
          </a:p>
        </p:txBody>
      </p:sp>
      <p:sp>
        <p:nvSpPr>
          <p:cNvPr id="19" name="TextBox 18">
            <a:extLst>
              <a:ext uri="{FF2B5EF4-FFF2-40B4-BE49-F238E27FC236}">
                <a16:creationId xmlns:a16="http://schemas.microsoft.com/office/drawing/2014/main" id="{3120803C-8C51-35B4-F8E5-D5E7FBFE2B3C}"/>
              </a:ext>
            </a:extLst>
          </p:cNvPr>
          <p:cNvSpPr txBox="1"/>
          <p:nvPr/>
        </p:nvSpPr>
        <p:spPr>
          <a:xfrm>
            <a:off x="6734269" y="3649957"/>
            <a:ext cx="814647" cy="276999"/>
          </a:xfrm>
          <a:prstGeom prst="rect">
            <a:avLst/>
          </a:prstGeom>
          <a:solidFill>
            <a:schemeClr val="accent1"/>
          </a:solidFill>
        </p:spPr>
        <p:txBody>
          <a:bodyPr wrap="none" rtlCol="0">
            <a:spAutoFit/>
          </a:bodyPr>
          <a:lstStyle/>
          <a:p>
            <a:pPr algn="l"/>
            <a:r>
              <a:rPr lang="en-US" sz="1200" dirty="0">
                <a:solidFill>
                  <a:schemeClr val="bg1"/>
                </a:solidFill>
                <a:latin typeface="Arial" panose="020B0604020202020204" pitchFamily="34" charset="0"/>
                <a:cs typeface="Arial" panose="020B0604020202020204" pitchFamily="34" charset="0"/>
              </a:rPr>
              <a:t>response</a:t>
            </a:r>
          </a:p>
        </p:txBody>
      </p:sp>
      <p:sp>
        <p:nvSpPr>
          <p:cNvPr id="20" name="Right Brace 19">
            <a:extLst>
              <a:ext uri="{FF2B5EF4-FFF2-40B4-BE49-F238E27FC236}">
                <a16:creationId xmlns:a16="http://schemas.microsoft.com/office/drawing/2014/main" id="{1E71147C-AB1E-1583-7264-B2EC4C593D2B}"/>
              </a:ext>
            </a:extLst>
          </p:cNvPr>
          <p:cNvSpPr/>
          <p:nvPr/>
        </p:nvSpPr>
        <p:spPr>
          <a:xfrm>
            <a:off x="4116513" y="2813218"/>
            <a:ext cx="465256" cy="2543749"/>
          </a:xfrm>
          <a:prstGeom prst="rightBrace">
            <a:avLst/>
          </a:prstGeom>
          <a:ln w="2540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F4E7C722-5692-6106-0949-59C475D3DD8F}"/>
              </a:ext>
            </a:extLst>
          </p:cNvPr>
          <p:cNvSpPr txBox="1"/>
          <p:nvPr/>
        </p:nvSpPr>
        <p:spPr>
          <a:xfrm>
            <a:off x="4581769" y="3943678"/>
            <a:ext cx="636713" cy="276999"/>
          </a:xfrm>
          <a:prstGeom prst="rect">
            <a:avLst/>
          </a:prstGeom>
          <a:solidFill>
            <a:schemeClr val="accent1"/>
          </a:solidFill>
        </p:spPr>
        <p:txBody>
          <a:bodyPr wrap="none" rtlCol="0">
            <a:spAutoFit/>
          </a:bodyPr>
          <a:lstStyle/>
          <a:p>
            <a:pPr algn="l"/>
            <a:r>
              <a:rPr lang="en-US" sz="1200" dirty="0">
                <a:solidFill>
                  <a:schemeClr val="bg1"/>
                </a:solidFill>
                <a:latin typeface="Arial" panose="020B0604020202020204" pitchFamily="34" charset="0"/>
                <a:cs typeface="Arial" panose="020B0604020202020204" pitchFamily="34" charset="0"/>
              </a:rPr>
              <a:t>my </a:t>
            </a:r>
            <a:r>
              <a:rPr lang="en-US" sz="1200" dirty="0" err="1">
                <a:solidFill>
                  <a:schemeClr val="bg1"/>
                </a:solidFill>
                <a:latin typeface="Arial" panose="020B0604020202020204" pitchFamily="34" charset="0"/>
                <a:cs typeface="Arial" panose="020B0604020202020204" pitchFamily="34" charset="0"/>
              </a:rPr>
              <a:t>api</a:t>
            </a:r>
            <a:endParaRPr lang="en-US" sz="12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2116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7BD56-A37B-2649-BEE7-4FDA04423BB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183AF7C-506C-D2E4-E5E0-2639C6BF442C}"/>
              </a:ext>
            </a:extLst>
          </p:cNvPr>
          <p:cNvSpPr txBox="1"/>
          <p:nvPr/>
        </p:nvSpPr>
        <p:spPr>
          <a:xfrm>
            <a:off x="278068" y="239655"/>
            <a:ext cx="11626549"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Configuring a GPT</a:t>
            </a:r>
          </a:p>
        </p:txBody>
      </p:sp>
      <p:pic>
        <p:nvPicPr>
          <p:cNvPr id="17" name="Picture 16">
            <a:extLst>
              <a:ext uri="{FF2B5EF4-FFF2-40B4-BE49-F238E27FC236}">
                <a16:creationId xmlns:a16="http://schemas.microsoft.com/office/drawing/2014/main" id="{0453AF84-4A2E-06BC-8565-99E88361E756}"/>
              </a:ext>
            </a:extLst>
          </p:cNvPr>
          <p:cNvPicPr>
            <a:picLocks noChangeAspect="1"/>
          </p:cNvPicPr>
          <p:nvPr/>
        </p:nvPicPr>
        <p:blipFill>
          <a:blip r:embed="rId3"/>
          <a:stretch>
            <a:fillRect/>
          </a:stretch>
        </p:blipFill>
        <p:spPr>
          <a:xfrm>
            <a:off x="273172" y="1344177"/>
            <a:ext cx="4516943" cy="4950419"/>
          </a:xfrm>
          <a:prstGeom prst="rect">
            <a:avLst/>
          </a:prstGeom>
        </p:spPr>
      </p:pic>
      <p:pic>
        <p:nvPicPr>
          <p:cNvPr id="18" name="Picture 17">
            <a:extLst>
              <a:ext uri="{FF2B5EF4-FFF2-40B4-BE49-F238E27FC236}">
                <a16:creationId xmlns:a16="http://schemas.microsoft.com/office/drawing/2014/main" id="{0B91FEE4-D044-C107-C2A5-B3571EE6D4A9}"/>
              </a:ext>
            </a:extLst>
          </p:cNvPr>
          <p:cNvPicPr>
            <a:picLocks noChangeAspect="1"/>
          </p:cNvPicPr>
          <p:nvPr/>
        </p:nvPicPr>
        <p:blipFill>
          <a:blip r:embed="rId4"/>
          <a:stretch>
            <a:fillRect/>
          </a:stretch>
        </p:blipFill>
        <p:spPr>
          <a:xfrm>
            <a:off x="5758004" y="1344177"/>
            <a:ext cx="4538662" cy="2893397"/>
          </a:xfrm>
          <a:prstGeom prst="rect">
            <a:avLst/>
          </a:prstGeom>
        </p:spPr>
      </p:pic>
      <p:cxnSp>
        <p:nvCxnSpPr>
          <p:cNvPr id="20" name="Elbow Connector 19">
            <a:extLst>
              <a:ext uri="{FF2B5EF4-FFF2-40B4-BE49-F238E27FC236}">
                <a16:creationId xmlns:a16="http://schemas.microsoft.com/office/drawing/2014/main" id="{C420C81C-20C3-4181-3A70-B8FC4630B100}"/>
              </a:ext>
            </a:extLst>
          </p:cNvPr>
          <p:cNvCxnSpPr>
            <a:cxnSpLocks/>
            <a:stCxn id="17" idx="2"/>
            <a:endCxn id="18" idx="0"/>
          </p:cNvCxnSpPr>
          <p:nvPr/>
        </p:nvCxnSpPr>
        <p:spPr>
          <a:xfrm rot="5400000" flipH="1" flipV="1">
            <a:off x="2804279" y="1071541"/>
            <a:ext cx="4950419" cy="5495691"/>
          </a:xfrm>
          <a:prstGeom prst="bentConnector5">
            <a:avLst>
              <a:gd name="adj1" fmla="val -4618"/>
              <a:gd name="adj2" fmla="val 49901"/>
              <a:gd name="adj3" fmla="val 104618"/>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29C3CB29-186C-12C2-272D-0FD76F5828B6}"/>
              </a:ext>
            </a:extLst>
          </p:cNvPr>
          <p:cNvSpPr/>
          <p:nvPr/>
        </p:nvSpPr>
        <p:spPr>
          <a:xfrm>
            <a:off x="5758004" y="3045590"/>
            <a:ext cx="4516943" cy="46715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56E6CB35-7F49-B979-9FE6-146565ECD718}"/>
              </a:ext>
            </a:extLst>
          </p:cNvPr>
          <p:cNvSpPr txBox="1"/>
          <p:nvPr/>
        </p:nvSpPr>
        <p:spPr>
          <a:xfrm>
            <a:off x="6726725" y="4604877"/>
            <a:ext cx="3811509" cy="1754326"/>
          </a:xfrm>
          <a:prstGeom prst="rect">
            <a:avLst/>
          </a:prstGeom>
          <a:noFill/>
        </p:spPr>
        <p:txBody>
          <a:bodyPr wrap="square" rtlCol="0">
            <a:spAutoFit/>
          </a:bodyPr>
          <a:lstStyle/>
          <a:p>
            <a:pPr algn="l"/>
            <a:r>
              <a:rPr lang="en-US" sz="1200" dirty="0">
                <a:latin typeface="Arial" panose="020B0604020202020204" pitchFamily="34" charset="0"/>
                <a:cs typeface="Arial" panose="020B0604020202020204" pitchFamily="34" charset="0"/>
              </a:rPr>
              <a:t>A Custom GPT Action is a bridge that connects ChatGPT to external tools and software. </a:t>
            </a:r>
          </a:p>
          <a:p>
            <a:pPr algn="l"/>
            <a:endParaRPr lang="en-US" sz="1200" dirty="0">
              <a:latin typeface="Arial" panose="020B0604020202020204" pitchFamily="34" charset="0"/>
              <a:cs typeface="Arial" panose="020B0604020202020204" pitchFamily="34" charset="0"/>
            </a:endParaRPr>
          </a:p>
          <a:p>
            <a:pPr algn="l"/>
            <a:r>
              <a:rPr lang="en-US" sz="1200" dirty="0">
                <a:latin typeface="Arial" panose="020B0604020202020204" pitchFamily="34" charset="0"/>
                <a:cs typeface="Arial" panose="020B0604020202020204" pitchFamily="34" charset="0"/>
              </a:rPr>
              <a:t>It acts as a set of hands for the AI, allowing it to "escape" the chat window and interact with other apps, databases, and APIs by making external software calls using natural language.</a:t>
            </a:r>
          </a:p>
          <a:p>
            <a:pPr algn="l"/>
            <a:endParaRPr lang="en-US" sz="1200" dirty="0">
              <a:latin typeface="Arial" panose="020B0604020202020204" pitchFamily="34" charset="0"/>
              <a:cs typeface="Arial" panose="020B0604020202020204" pitchFamily="34" charset="0"/>
            </a:endParaRPr>
          </a:p>
          <a:p>
            <a:pPr algn="l"/>
            <a:r>
              <a:rPr lang="en-US" sz="1200" dirty="0">
                <a:latin typeface="Arial" panose="020B0604020202020204" pitchFamily="34" charset="0"/>
                <a:cs typeface="Arial" panose="020B0604020202020204" pitchFamily="34" charset="0"/>
              </a:rPr>
              <a:t>It is described further on the next slide.</a:t>
            </a:r>
          </a:p>
        </p:txBody>
      </p:sp>
      <p:cxnSp>
        <p:nvCxnSpPr>
          <p:cNvPr id="25" name="Straight Arrow Connector 24">
            <a:extLst>
              <a:ext uri="{FF2B5EF4-FFF2-40B4-BE49-F238E27FC236}">
                <a16:creationId xmlns:a16="http://schemas.microsoft.com/office/drawing/2014/main" id="{93FA1144-B5B7-90AE-A31C-6B89F3CE3956}"/>
              </a:ext>
            </a:extLst>
          </p:cNvPr>
          <p:cNvCxnSpPr>
            <a:cxnSpLocks/>
            <a:stCxn id="23" idx="0"/>
          </p:cNvCxnSpPr>
          <p:nvPr/>
        </p:nvCxnSpPr>
        <p:spPr>
          <a:xfrm flipV="1">
            <a:off x="8632480" y="3512744"/>
            <a:ext cx="4526" cy="10921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97656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D9173-5F50-02D8-03CA-71EA990F9B7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EA0399E-1316-3C3D-2B3B-8D2D09BC1473}"/>
              </a:ext>
            </a:extLst>
          </p:cNvPr>
          <p:cNvSpPr txBox="1"/>
          <p:nvPr/>
        </p:nvSpPr>
        <p:spPr>
          <a:xfrm>
            <a:off x="278068" y="239655"/>
            <a:ext cx="11626549"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Configuring a GPT – Custom GPT Action</a:t>
            </a:r>
          </a:p>
        </p:txBody>
      </p:sp>
      <p:sp>
        <p:nvSpPr>
          <p:cNvPr id="23" name="TextBox 22">
            <a:extLst>
              <a:ext uri="{FF2B5EF4-FFF2-40B4-BE49-F238E27FC236}">
                <a16:creationId xmlns:a16="http://schemas.microsoft.com/office/drawing/2014/main" id="{504A9715-8C60-D9BA-9B05-DB877A132EA5}"/>
              </a:ext>
            </a:extLst>
          </p:cNvPr>
          <p:cNvSpPr txBox="1"/>
          <p:nvPr/>
        </p:nvSpPr>
        <p:spPr>
          <a:xfrm>
            <a:off x="278068" y="1517646"/>
            <a:ext cx="5135904" cy="4524315"/>
          </a:xfrm>
          <a:prstGeom prst="rect">
            <a:avLst/>
          </a:prstGeom>
          <a:noFill/>
        </p:spPr>
        <p:txBody>
          <a:bodyPr wrap="square" rtlCol="0">
            <a:spAutoFit/>
          </a:bodyPr>
          <a:lstStyle/>
          <a:p>
            <a:pPr algn="l"/>
            <a:r>
              <a:rPr lang="en-US" sz="1200" b="1" dirty="0">
                <a:latin typeface="Arial" panose="020B0604020202020204" pitchFamily="34" charset="0"/>
                <a:cs typeface="Arial" panose="020B0604020202020204" pitchFamily="34" charset="0"/>
              </a:rPr>
              <a:t>What a Custom GPT Action Does</a:t>
            </a:r>
          </a:p>
          <a:p>
            <a:pPr algn="l"/>
            <a:endParaRPr lang="en-US" sz="1200" dirty="0">
              <a:latin typeface="Arial" panose="020B0604020202020204" pitchFamily="34" charset="0"/>
              <a:cs typeface="Arial" panose="020B0604020202020204" pitchFamily="34" charset="0"/>
            </a:endParaRPr>
          </a:p>
          <a:p>
            <a:pPr algn="l"/>
            <a:r>
              <a:rPr lang="en-US" sz="1200" dirty="0">
                <a:latin typeface="Arial" panose="020B0604020202020204" pitchFamily="34" charset="0"/>
                <a:cs typeface="Arial" panose="020B0604020202020204" pitchFamily="34" charset="0"/>
              </a:rPr>
              <a:t>Actions allow your custom AI assistant to actively do work rather than just talking about it. </a:t>
            </a:r>
          </a:p>
          <a:p>
            <a:pPr algn="l"/>
            <a:endParaRPr lang="en-US" sz="1200" dirty="0">
              <a:latin typeface="Arial" panose="020B0604020202020204" pitchFamily="34" charset="0"/>
              <a:cs typeface="Arial" panose="020B0604020202020204" pitchFamily="34" charset="0"/>
            </a:endParaRPr>
          </a:p>
          <a:p>
            <a:pPr algn="l"/>
            <a:r>
              <a:rPr lang="en-US" sz="1200" dirty="0">
                <a:latin typeface="Arial" panose="020B0604020202020204" pitchFamily="34" charset="0"/>
                <a:cs typeface="Arial" panose="020B0604020202020204" pitchFamily="34" charset="0"/>
              </a:rPr>
              <a:t>Instead of just drafting a meeting summary, for instance, the AI can actually book the meeting. </a:t>
            </a:r>
          </a:p>
          <a:p>
            <a:pPr algn="l"/>
            <a:endParaRPr lang="en-US" sz="1200" dirty="0">
              <a:latin typeface="Arial" panose="020B0604020202020204" pitchFamily="34" charset="0"/>
              <a:cs typeface="Arial" panose="020B0604020202020204" pitchFamily="34" charset="0"/>
            </a:endParaRPr>
          </a:p>
          <a:p>
            <a:pPr algn="l"/>
            <a:r>
              <a:rPr lang="en-US" sz="1200" b="1" dirty="0">
                <a:latin typeface="Arial" panose="020B0604020202020204" pitchFamily="34" charset="0"/>
                <a:cs typeface="Arial" panose="020B0604020202020204" pitchFamily="34" charset="0"/>
              </a:rPr>
              <a:t>Specifically, Actions can:</a:t>
            </a:r>
          </a:p>
          <a:p>
            <a:pPr algn="l"/>
            <a:endParaRPr lang="en-US" sz="1200" dirty="0">
              <a:latin typeface="Arial" panose="020B0604020202020204" pitchFamily="34" charset="0"/>
              <a:cs typeface="Arial" panose="020B0604020202020204" pitchFamily="34" charset="0"/>
            </a:endParaRPr>
          </a:p>
          <a:p>
            <a:pPr algn="l"/>
            <a:r>
              <a:rPr lang="en-US" sz="1200" u="sng" dirty="0">
                <a:latin typeface="Arial" panose="020B0604020202020204" pitchFamily="34" charset="0"/>
                <a:cs typeface="Arial" panose="020B0604020202020204" pitchFamily="34" charset="0"/>
              </a:rPr>
              <a:t>Retrieve live data: </a:t>
            </a:r>
          </a:p>
          <a:p>
            <a:pPr algn="l"/>
            <a:endParaRPr lang="en-US" sz="1200" dirty="0">
              <a:latin typeface="Arial" panose="020B0604020202020204" pitchFamily="34" charset="0"/>
              <a:cs typeface="Arial" panose="020B0604020202020204" pitchFamily="34" charset="0"/>
            </a:endParaRPr>
          </a:p>
          <a:p>
            <a:pPr algn="l"/>
            <a:r>
              <a:rPr lang="en-US" sz="1200" dirty="0">
                <a:latin typeface="Arial" panose="020B0604020202020204" pitchFamily="34" charset="0"/>
                <a:cs typeface="Arial" panose="020B0604020202020204" pitchFamily="34" charset="0"/>
              </a:rPr>
              <a:t>Query a live database, check an external inventory, or pull the latest information from an API.</a:t>
            </a:r>
          </a:p>
          <a:p>
            <a:pPr algn="l"/>
            <a:endParaRPr lang="en-US" sz="1200" dirty="0">
              <a:latin typeface="Arial" panose="020B0604020202020204" pitchFamily="34" charset="0"/>
              <a:cs typeface="Arial" panose="020B0604020202020204" pitchFamily="34" charset="0"/>
            </a:endParaRPr>
          </a:p>
          <a:p>
            <a:pPr algn="l"/>
            <a:r>
              <a:rPr lang="en-US" sz="1200" u="sng" dirty="0">
                <a:latin typeface="Arial" panose="020B0604020202020204" pitchFamily="34" charset="0"/>
                <a:cs typeface="Arial" panose="020B0604020202020204" pitchFamily="34" charset="0"/>
              </a:rPr>
              <a:t>Perform tasks in other apps: </a:t>
            </a:r>
          </a:p>
          <a:p>
            <a:pPr algn="l"/>
            <a:endParaRPr lang="en-US" sz="1200" dirty="0">
              <a:latin typeface="Arial" panose="020B0604020202020204" pitchFamily="34" charset="0"/>
              <a:cs typeface="Arial" panose="020B0604020202020204" pitchFamily="34" charset="0"/>
            </a:endParaRPr>
          </a:p>
          <a:p>
            <a:pPr algn="l"/>
            <a:r>
              <a:rPr lang="en-US" sz="1200" dirty="0">
                <a:latin typeface="Arial" panose="020B0604020202020204" pitchFamily="34" charset="0"/>
                <a:cs typeface="Arial" panose="020B0604020202020204" pitchFamily="34" charset="0"/>
              </a:rPr>
              <a:t>Send a message in Slack, create a calendar event, or generate a support ticket in Jira.</a:t>
            </a:r>
          </a:p>
          <a:p>
            <a:pPr algn="l"/>
            <a:endParaRPr lang="en-US" sz="1200" dirty="0">
              <a:latin typeface="Arial" panose="020B0604020202020204" pitchFamily="34" charset="0"/>
              <a:cs typeface="Arial" panose="020B0604020202020204" pitchFamily="34" charset="0"/>
            </a:endParaRPr>
          </a:p>
          <a:p>
            <a:pPr algn="l"/>
            <a:r>
              <a:rPr lang="en-US" sz="1200" u="sng" dirty="0">
                <a:latin typeface="Arial" panose="020B0604020202020204" pitchFamily="34" charset="0"/>
                <a:cs typeface="Arial" panose="020B0604020202020204" pitchFamily="34" charset="0"/>
              </a:rPr>
              <a:t>Automate workflows: </a:t>
            </a:r>
          </a:p>
          <a:p>
            <a:pPr algn="l"/>
            <a:endParaRPr lang="en-US" sz="1200" dirty="0">
              <a:latin typeface="Arial" panose="020B0604020202020204" pitchFamily="34" charset="0"/>
              <a:cs typeface="Arial" panose="020B0604020202020204" pitchFamily="34" charset="0"/>
            </a:endParaRPr>
          </a:p>
          <a:p>
            <a:pPr algn="l"/>
            <a:r>
              <a:rPr lang="en-US" sz="1200" dirty="0">
                <a:latin typeface="Arial" panose="020B0604020202020204" pitchFamily="34" charset="0"/>
                <a:cs typeface="Arial" panose="020B0604020202020204" pitchFamily="34" charset="0"/>
              </a:rPr>
              <a:t>Trigger external automations using platforms like Zapier or Make to perform multi-step processes.</a:t>
            </a:r>
          </a:p>
        </p:txBody>
      </p:sp>
      <p:sp>
        <p:nvSpPr>
          <p:cNvPr id="2" name="TextBox 1">
            <a:extLst>
              <a:ext uri="{FF2B5EF4-FFF2-40B4-BE49-F238E27FC236}">
                <a16:creationId xmlns:a16="http://schemas.microsoft.com/office/drawing/2014/main" id="{6DC4377E-8A98-D3B3-2426-0074C7C001BE}"/>
              </a:ext>
            </a:extLst>
          </p:cNvPr>
          <p:cNvSpPr txBox="1"/>
          <p:nvPr/>
        </p:nvSpPr>
        <p:spPr>
          <a:xfrm>
            <a:off x="6641146" y="2457700"/>
            <a:ext cx="5135904" cy="2123658"/>
          </a:xfrm>
          <a:prstGeom prst="rect">
            <a:avLst/>
          </a:prstGeom>
          <a:noFill/>
        </p:spPr>
        <p:txBody>
          <a:bodyPr wrap="square" rtlCol="0">
            <a:spAutoFit/>
          </a:bodyPr>
          <a:lstStyle/>
          <a:p>
            <a:pPr algn="l"/>
            <a:r>
              <a:rPr lang="en-US" sz="1200" b="1" dirty="0">
                <a:latin typeface="Arial" panose="020B0604020202020204" pitchFamily="34" charset="0"/>
                <a:cs typeface="Arial" panose="020B0604020202020204" pitchFamily="34" charset="0"/>
              </a:rPr>
              <a:t>What a Custom GPT Action Is</a:t>
            </a:r>
          </a:p>
          <a:p>
            <a:pPr algn="l"/>
            <a:endParaRPr lang="en-US" sz="1200" dirty="0">
              <a:latin typeface="Arial" panose="020B0604020202020204" pitchFamily="34" charset="0"/>
              <a:cs typeface="Arial" panose="020B0604020202020204" pitchFamily="34" charset="0"/>
            </a:endParaRPr>
          </a:p>
          <a:p>
            <a:pPr algn="l"/>
            <a:r>
              <a:rPr lang="en-US" sz="1200" dirty="0">
                <a:latin typeface="Arial" panose="020B0604020202020204" pitchFamily="34" charset="0"/>
                <a:cs typeface="Arial" panose="020B0604020202020204" pitchFamily="34" charset="0"/>
              </a:rPr>
              <a:t>Under the hood, a Custom GPT Action is defined using an </a:t>
            </a:r>
            <a:r>
              <a:rPr lang="en-US" sz="1200" dirty="0" err="1">
                <a:latin typeface="Arial" panose="020B0604020202020204" pitchFamily="34" charset="0"/>
                <a:cs typeface="Arial" panose="020B0604020202020204" pitchFamily="34" charset="0"/>
              </a:rPr>
              <a:t>OpenAPI</a:t>
            </a:r>
            <a:r>
              <a:rPr lang="en-US" sz="1200" dirty="0">
                <a:latin typeface="Arial" panose="020B0604020202020204" pitchFamily="34" charset="0"/>
                <a:cs typeface="Arial" panose="020B0604020202020204" pitchFamily="34" charset="0"/>
              </a:rPr>
              <a:t> Specification (a standardized blueprint that tells ChatGPT how to talk to the external software) and an authentication method (like an API key or OAuth). </a:t>
            </a:r>
          </a:p>
          <a:p>
            <a:pPr algn="l"/>
            <a:endParaRPr lang="en-US" sz="1200" dirty="0">
              <a:latin typeface="Arial" panose="020B0604020202020204" pitchFamily="34" charset="0"/>
              <a:cs typeface="Arial" panose="020B0604020202020204" pitchFamily="34" charset="0"/>
            </a:endParaRPr>
          </a:p>
          <a:p>
            <a:pPr algn="l"/>
            <a:r>
              <a:rPr lang="en-US" sz="1200" dirty="0">
                <a:latin typeface="Arial" panose="020B0604020202020204" pitchFamily="34" charset="0"/>
                <a:cs typeface="Arial" panose="020B0604020202020204" pitchFamily="34" charset="0"/>
              </a:rPr>
              <a:t>When you give a custom GPT specific instructions on how to use these Actions, the AI automatically translates your natural language requests into the structured code (like JSON) required to communicate with that external tool.</a:t>
            </a:r>
          </a:p>
        </p:txBody>
      </p:sp>
    </p:spTree>
    <p:extLst>
      <p:ext uri="{BB962C8B-B14F-4D97-AF65-F5344CB8AC3E}">
        <p14:creationId xmlns:p14="http://schemas.microsoft.com/office/powerpoint/2010/main" val="2501229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FFC0F-9070-9E99-2F0F-15031D48FE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C366475-87E6-2EA7-C717-BC6261A900BE}"/>
              </a:ext>
            </a:extLst>
          </p:cNvPr>
          <p:cNvSpPr txBox="1"/>
          <p:nvPr/>
        </p:nvSpPr>
        <p:spPr>
          <a:xfrm>
            <a:off x="278068" y="239655"/>
            <a:ext cx="11626549"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weather dot gov forecast Custom GPT Action YAML</a:t>
            </a:r>
          </a:p>
        </p:txBody>
      </p:sp>
      <p:grpSp>
        <p:nvGrpSpPr>
          <p:cNvPr id="8" name="Group 7">
            <a:extLst>
              <a:ext uri="{FF2B5EF4-FFF2-40B4-BE49-F238E27FC236}">
                <a16:creationId xmlns:a16="http://schemas.microsoft.com/office/drawing/2014/main" id="{DFAC82B9-2DF3-7CF1-1BAE-351970952610}"/>
              </a:ext>
            </a:extLst>
          </p:cNvPr>
          <p:cNvGrpSpPr/>
          <p:nvPr/>
        </p:nvGrpSpPr>
        <p:grpSpPr>
          <a:xfrm>
            <a:off x="413657" y="1039888"/>
            <a:ext cx="6792686" cy="5579517"/>
            <a:chOff x="468085" y="885986"/>
            <a:chExt cx="6792686" cy="5579517"/>
          </a:xfrm>
        </p:grpSpPr>
        <p:pic>
          <p:nvPicPr>
            <p:cNvPr id="6" name="Picture 5">
              <a:extLst>
                <a:ext uri="{FF2B5EF4-FFF2-40B4-BE49-F238E27FC236}">
                  <a16:creationId xmlns:a16="http://schemas.microsoft.com/office/drawing/2014/main" id="{627319D3-524A-9723-0945-3DDA26343CF8}"/>
                </a:ext>
              </a:extLst>
            </p:cNvPr>
            <p:cNvPicPr>
              <a:picLocks noChangeAspect="1"/>
            </p:cNvPicPr>
            <p:nvPr/>
          </p:nvPicPr>
          <p:blipFill>
            <a:blip r:embed="rId3"/>
            <a:srcRect r="34734"/>
            <a:stretch>
              <a:fillRect/>
            </a:stretch>
          </p:blipFill>
          <p:spPr>
            <a:xfrm>
              <a:off x="468085" y="885986"/>
              <a:ext cx="5072743" cy="3737171"/>
            </a:xfrm>
            <a:prstGeom prst="rect">
              <a:avLst/>
            </a:prstGeom>
          </p:spPr>
        </p:pic>
        <p:pic>
          <p:nvPicPr>
            <p:cNvPr id="7" name="Picture 6">
              <a:extLst>
                <a:ext uri="{FF2B5EF4-FFF2-40B4-BE49-F238E27FC236}">
                  <a16:creationId xmlns:a16="http://schemas.microsoft.com/office/drawing/2014/main" id="{2D49507E-B026-0F0D-A615-263873D4B1C9}"/>
                </a:ext>
              </a:extLst>
            </p:cNvPr>
            <p:cNvPicPr>
              <a:picLocks noChangeAspect="1"/>
            </p:cNvPicPr>
            <p:nvPr/>
          </p:nvPicPr>
          <p:blipFill>
            <a:blip r:embed="rId4"/>
            <a:srcRect r="12605"/>
            <a:stretch>
              <a:fillRect/>
            </a:stretch>
          </p:blipFill>
          <p:spPr>
            <a:xfrm>
              <a:off x="468085" y="4623157"/>
              <a:ext cx="6792686" cy="1842346"/>
            </a:xfrm>
            <a:prstGeom prst="rect">
              <a:avLst/>
            </a:prstGeom>
          </p:spPr>
        </p:pic>
      </p:grpSp>
    </p:spTree>
    <p:extLst>
      <p:ext uri="{BB962C8B-B14F-4D97-AF65-F5344CB8AC3E}">
        <p14:creationId xmlns:p14="http://schemas.microsoft.com/office/powerpoint/2010/main" val="48313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78373-A6B3-15D4-ACD4-2765BD541F4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64EB095-60A0-B009-C802-A7BFFFDDC852}"/>
              </a:ext>
            </a:extLst>
          </p:cNvPr>
          <p:cNvSpPr txBox="1"/>
          <p:nvPr/>
        </p:nvSpPr>
        <p:spPr>
          <a:xfrm>
            <a:off x="278068" y="239655"/>
            <a:ext cx="11626549"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weather dot gov forecast Custom GPT Action YAML</a:t>
            </a:r>
          </a:p>
        </p:txBody>
      </p:sp>
      <p:grpSp>
        <p:nvGrpSpPr>
          <p:cNvPr id="8" name="Group 7">
            <a:extLst>
              <a:ext uri="{FF2B5EF4-FFF2-40B4-BE49-F238E27FC236}">
                <a16:creationId xmlns:a16="http://schemas.microsoft.com/office/drawing/2014/main" id="{72F6C98B-7EDD-856D-F5B6-112B545BB3AE}"/>
              </a:ext>
            </a:extLst>
          </p:cNvPr>
          <p:cNvGrpSpPr/>
          <p:nvPr/>
        </p:nvGrpSpPr>
        <p:grpSpPr>
          <a:xfrm>
            <a:off x="413657" y="885986"/>
            <a:ext cx="6792686" cy="5579517"/>
            <a:chOff x="468085" y="885986"/>
            <a:chExt cx="6792686" cy="5579517"/>
          </a:xfrm>
        </p:grpSpPr>
        <p:pic>
          <p:nvPicPr>
            <p:cNvPr id="6" name="Picture 5">
              <a:extLst>
                <a:ext uri="{FF2B5EF4-FFF2-40B4-BE49-F238E27FC236}">
                  <a16:creationId xmlns:a16="http://schemas.microsoft.com/office/drawing/2014/main" id="{6B17F36C-94EB-30A0-7DE2-726CC016015D}"/>
                </a:ext>
              </a:extLst>
            </p:cNvPr>
            <p:cNvPicPr>
              <a:picLocks noChangeAspect="1"/>
            </p:cNvPicPr>
            <p:nvPr/>
          </p:nvPicPr>
          <p:blipFill>
            <a:blip r:embed="rId3"/>
            <a:srcRect r="34734"/>
            <a:stretch>
              <a:fillRect/>
            </a:stretch>
          </p:blipFill>
          <p:spPr>
            <a:xfrm>
              <a:off x="468085" y="885986"/>
              <a:ext cx="5072743" cy="3737171"/>
            </a:xfrm>
            <a:prstGeom prst="rect">
              <a:avLst/>
            </a:prstGeom>
          </p:spPr>
        </p:pic>
        <p:pic>
          <p:nvPicPr>
            <p:cNvPr id="7" name="Picture 6">
              <a:extLst>
                <a:ext uri="{FF2B5EF4-FFF2-40B4-BE49-F238E27FC236}">
                  <a16:creationId xmlns:a16="http://schemas.microsoft.com/office/drawing/2014/main" id="{8B6A74C8-AB56-2BFB-32DD-8611E6FE8968}"/>
                </a:ext>
              </a:extLst>
            </p:cNvPr>
            <p:cNvPicPr>
              <a:picLocks noChangeAspect="1"/>
            </p:cNvPicPr>
            <p:nvPr/>
          </p:nvPicPr>
          <p:blipFill>
            <a:blip r:embed="rId4"/>
            <a:srcRect r="12605"/>
            <a:stretch>
              <a:fillRect/>
            </a:stretch>
          </p:blipFill>
          <p:spPr>
            <a:xfrm>
              <a:off x="468085" y="4623157"/>
              <a:ext cx="6792686" cy="1842346"/>
            </a:xfrm>
            <a:prstGeom prst="rect">
              <a:avLst/>
            </a:prstGeom>
          </p:spPr>
        </p:pic>
      </p:grpSp>
      <p:sp>
        <p:nvSpPr>
          <p:cNvPr id="9" name="Rectangle 8">
            <a:extLst>
              <a:ext uri="{FF2B5EF4-FFF2-40B4-BE49-F238E27FC236}">
                <a16:creationId xmlns:a16="http://schemas.microsoft.com/office/drawing/2014/main" id="{C5B0B98F-D284-78E3-BF96-5D455DB8F956}"/>
              </a:ext>
            </a:extLst>
          </p:cNvPr>
          <p:cNvSpPr/>
          <p:nvPr/>
        </p:nvSpPr>
        <p:spPr>
          <a:xfrm>
            <a:off x="413657" y="1981200"/>
            <a:ext cx="4746172" cy="4136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0418311-53C5-CD31-277B-2B262837066B}"/>
              </a:ext>
            </a:extLst>
          </p:cNvPr>
          <p:cNvSpPr txBox="1"/>
          <p:nvPr/>
        </p:nvSpPr>
        <p:spPr>
          <a:xfrm>
            <a:off x="6372934" y="983883"/>
            <a:ext cx="2119491" cy="276999"/>
          </a:xfrm>
          <a:prstGeom prst="rect">
            <a:avLst/>
          </a:prstGeom>
          <a:noFill/>
        </p:spPr>
        <p:txBody>
          <a:bodyPr wrap="none" rtlCol="0">
            <a:spAutoFit/>
          </a:bodyPr>
          <a:lstStyle/>
          <a:p>
            <a:r>
              <a:rPr lang="en-US" sz="1200" dirty="0">
                <a:latin typeface="Arial" panose="020B0604020202020204" pitchFamily="34" charset="0"/>
                <a:cs typeface="Arial" panose="020B0604020202020204" pitchFamily="34" charset="0"/>
              </a:rPr>
              <a:t>How did this get configured?</a:t>
            </a:r>
          </a:p>
        </p:txBody>
      </p:sp>
      <p:cxnSp>
        <p:nvCxnSpPr>
          <p:cNvPr id="12" name="Straight Arrow Connector 11">
            <a:extLst>
              <a:ext uri="{FF2B5EF4-FFF2-40B4-BE49-F238E27FC236}">
                <a16:creationId xmlns:a16="http://schemas.microsoft.com/office/drawing/2014/main" id="{319CFFE4-0AC1-54EF-9955-E0E9821435AD}"/>
              </a:ext>
            </a:extLst>
          </p:cNvPr>
          <p:cNvCxnSpPr>
            <a:cxnSpLocks/>
            <a:stCxn id="10" idx="1"/>
          </p:cNvCxnSpPr>
          <p:nvPr/>
        </p:nvCxnSpPr>
        <p:spPr>
          <a:xfrm flipH="1">
            <a:off x="5159829" y="1122383"/>
            <a:ext cx="1213105" cy="10656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id="{CBE2DFB2-7355-CFAA-40B4-A991D8FA500B}"/>
              </a:ext>
            </a:extLst>
          </p:cNvPr>
          <p:cNvPicPr>
            <a:picLocks noChangeAspect="1"/>
          </p:cNvPicPr>
          <p:nvPr/>
        </p:nvPicPr>
        <p:blipFill>
          <a:blip r:embed="rId5"/>
          <a:stretch>
            <a:fillRect/>
          </a:stretch>
        </p:blipFill>
        <p:spPr>
          <a:xfrm>
            <a:off x="6478491" y="1260882"/>
            <a:ext cx="5353957" cy="2854200"/>
          </a:xfrm>
          <a:prstGeom prst="rect">
            <a:avLst/>
          </a:prstGeom>
          <a:ln>
            <a:solidFill>
              <a:schemeClr val="accent1"/>
            </a:solidFill>
          </a:ln>
        </p:spPr>
      </p:pic>
      <p:pic>
        <p:nvPicPr>
          <p:cNvPr id="14" name="Picture 13">
            <a:extLst>
              <a:ext uri="{FF2B5EF4-FFF2-40B4-BE49-F238E27FC236}">
                <a16:creationId xmlns:a16="http://schemas.microsoft.com/office/drawing/2014/main" id="{56BDDED0-8570-AA06-CAF8-1C8A0C5A5747}"/>
              </a:ext>
            </a:extLst>
          </p:cNvPr>
          <p:cNvPicPr>
            <a:picLocks noChangeAspect="1"/>
          </p:cNvPicPr>
          <p:nvPr/>
        </p:nvPicPr>
        <p:blipFill>
          <a:blip r:embed="rId6"/>
          <a:stretch>
            <a:fillRect/>
          </a:stretch>
        </p:blipFill>
        <p:spPr>
          <a:xfrm>
            <a:off x="6156485" y="4205612"/>
            <a:ext cx="5708077" cy="2503263"/>
          </a:xfrm>
          <a:prstGeom prst="rect">
            <a:avLst/>
          </a:prstGeom>
        </p:spPr>
      </p:pic>
    </p:spTree>
    <p:extLst>
      <p:ext uri="{BB962C8B-B14F-4D97-AF65-F5344CB8AC3E}">
        <p14:creationId xmlns:p14="http://schemas.microsoft.com/office/powerpoint/2010/main" val="38648630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6B9FE-D27F-50C2-BCFE-78675392F11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E2ADF40-6D97-CE4C-7973-7616419AA94D}"/>
              </a:ext>
            </a:extLst>
          </p:cNvPr>
          <p:cNvSpPr txBox="1"/>
          <p:nvPr/>
        </p:nvSpPr>
        <p:spPr>
          <a:xfrm>
            <a:off x="278068" y="239655"/>
            <a:ext cx="11626549"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Custom GPT YAML Blueprint (continued) </a:t>
            </a:r>
          </a:p>
        </p:txBody>
      </p:sp>
      <p:grpSp>
        <p:nvGrpSpPr>
          <p:cNvPr id="8" name="Group 7">
            <a:extLst>
              <a:ext uri="{FF2B5EF4-FFF2-40B4-BE49-F238E27FC236}">
                <a16:creationId xmlns:a16="http://schemas.microsoft.com/office/drawing/2014/main" id="{84B7AB21-EE12-957C-4464-F4E442E27E52}"/>
              </a:ext>
            </a:extLst>
          </p:cNvPr>
          <p:cNvGrpSpPr/>
          <p:nvPr/>
        </p:nvGrpSpPr>
        <p:grpSpPr>
          <a:xfrm>
            <a:off x="413657" y="885986"/>
            <a:ext cx="6792686" cy="5579517"/>
            <a:chOff x="468085" y="885986"/>
            <a:chExt cx="6792686" cy="5579517"/>
          </a:xfrm>
        </p:grpSpPr>
        <p:pic>
          <p:nvPicPr>
            <p:cNvPr id="6" name="Picture 5">
              <a:extLst>
                <a:ext uri="{FF2B5EF4-FFF2-40B4-BE49-F238E27FC236}">
                  <a16:creationId xmlns:a16="http://schemas.microsoft.com/office/drawing/2014/main" id="{11D75A9A-A1C1-3807-9A9A-09421CD6C6E3}"/>
                </a:ext>
              </a:extLst>
            </p:cNvPr>
            <p:cNvPicPr>
              <a:picLocks noChangeAspect="1"/>
            </p:cNvPicPr>
            <p:nvPr/>
          </p:nvPicPr>
          <p:blipFill>
            <a:blip r:embed="rId3"/>
            <a:srcRect r="36015"/>
            <a:stretch>
              <a:fillRect/>
            </a:stretch>
          </p:blipFill>
          <p:spPr>
            <a:xfrm>
              <a:off x="468085" y="885986"/>
              <a:ext cx="4973155" cy="3737171"/>
            </a:xfrm>
            <a:prstGeom prst="rect">
              <a:avLst/>
            </a:prstGeom>
          </p:spPr>
        </p:pic>
        <p:pic>
          <p:nvPicPr>
            <p:cNvPr id="7" name="Picture 6">
              <a:extLst>
                <a:ext uri="{FF2B5EF4-FFF2-40B4-BE49-F238E27FC236}">
                  <a16:creationId xmlns:a16="http://schemas.microsoft.com/office/drawing/2014/main" id="{DC3FC01E-18D6-F126-081C-C888F89EB042}"/>
                </a:ext>
              </a:extLst>
            </p:cNvPr>
            <p:cNvPicPr>
              <a:picLocks noChangeAspect="1"/>
            </p:cNvPicPr>
            <p:nvPr/>
          </p:nvPicPr>
          <p:blipFill>
            <a:blip r:embed="rId4"/>
            <a:srcRect r="12605"/>
            <a:stretch>
              <a:fillRect/>
            </a:stretch>
          </p:blipFill>
          <p:spPr>
            <a:xfrm>
              <a:off x="468085" y="4623157"/>
              <a:ext cx="6792686" cy="1842346"/>
            </a:xfrm>
            <a:prstGeom prst="rect">
              <a:avLst/>
            </a:prstGeom>
          </p:spPr>
        </p:pic>
      </p:grpSp>
      <p:sp>
        <p:nvSpPr>
          <p:cNvPr id="9" name="Rectangle 8">
            <a:extLst>
              <a:ext uri="{FF2B5EF4-FFF2-40B4-BE49-F238E27FC236}">
                <a16:creationId xmlns:a16="http://schemas.microsoft.com/office/drawing/2014/main" id="{C12447EC-2A86-EBAD-9C97-5F29E0E4C51A}"/>
              </a:ext>
            </a:extLst>
          </p:cNvPr>
          <p:cNvSpPr/>
          <p:nvPr/>
        </p:nvSpPr>
        <p:spPr>
          <a:xfrm>
            <a:off x="413657" y="2377157"/>
            <a:ext cx="4746172" cy="392784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90AB59F2-CDB2-BE46-6B1F-02AB52DEAD02}"/>
              </a:ext>
            </a:extLst>
          </p:cNvPr>
          <p:cNvGrpSpPr/>
          <p:nvPr/>
        </p:nvGrpSpPr>
        <p:grpSpPr>
          <a:xfrm>
            <a:off x="5159832" y="1086102"/>
            <a:ext cx="3819355" cy="1291055"/>
            <a:chOff x="4832131" y="1326698"/>
            <a:chExt cx="3695317" cy="1291055"/>
          </a:xfrm>
        </p:grpSpPr>
        <p:sp>
          <p:nvSpPr>
            <p:cNvPr id="10" name="TextBox 9">
              <a:extLst>
                <a:ext uri="{FF2B5EF4-FFF2-40B4-BE49-F238E27FC236}">
                  <a16:creationId xmlns:a16="http://schemas.microsoft.com/office/drawing/2014/main" id="{59C50990-CB05-F12D-4CA9-9C2A7EC2E00D}"/>
                </a:ext>
              </a:extLst>
            </p:cNvPr>
            <p:cNvSpPr txBox="1"/>
            <p:nvPr/>
          </p:nvSpPr>
          <p:spPr>
            <a:xfrm>
              <a:off x="6424058" y="1326698"/>
              <a:ext cx="2103390" cy="276999"/>
            </a:xfrm>
            <a:prstGeom prst="rect">
              <a:avLst/>
            </a:prstGeom>
            <a:noFill/>
          </p:spPr>
          <p:txBody>
            <a:bodyPr wrap="none" rtlCol="0">
              <a:spAutoFit/>
            </a:bodyPr>
            <a:lstStyle/>
            <a:p>
              <a:r>
                <a:rPr lang="en-US" sz="1200" dirty="0">
                  <a:latin typeface="Arial" panose="020B0604020202020204" pitchFamily="34" charset="0"/>
                  <a:cs typeface="Arial" panose="020B0604020202020204" pitchFamily="34" charset="0"/>
                </a:rPr>
                <a:t>What does this path point to?</a:t>
              </a:r>
            </a:p>
          </p:txBody>
        </p:sp>
        <p:cxnSp>
          <p:nvCxnSpPr>
            <p:cNvPr id="12" name="Straight Arrow Connector 11">
              <a:extLst>
                <a:ext uri="{FF2B5EF4-FFF2-40B4-BE49-F238E27FC236}">
                  <a16:creationId xmlns:a16="http://schemas.microsoft.com/office/drawing/2014/main" id="{AC4562BE-3C1D-CC9E-BC98-5B481E6FCF21}"/>
                </a:ext>
              </a:extLst>
            </p:cNvPr>
            <p:cNvCxnSpPr>
              <a:cxnSpLocks/>
              <a:stCxn id="10" idx="1"/>
            </p:cNvCxnSpPr>
            <p:nvPr/>
          </p:nvCxnSpPr>
          <p:spPr>
            <a:xfrm flipH="1">
              <a:off x="4832131" y="1465198"/>
              <a:ext cx="1591927" cy="11525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pic>
        <p:nvPicPr>
          <p:cNvPr id="3" name="Picture 2">
            <a:extLst>
              <a:ext uri="{FF2B5EF4-FFF2-40B4-BE49-F238E27FC236}">
                <a16:creationId xmlns:a16="http://schemas.microsoft.com/office/drawing/2014/main" id="{F47CA112-AD39-DF21-174D-F763508BBE7F}"/>
              </a:ext>
            </a:extLst>
          </p:cNvPr>
          <p:cNvPicPr>
            <a:picLocks noChangeAspect="1"/>
          </p:cNvPicPr>
          <p:nvPr/>
        </p:nvPicPr>
        <p:blipFill>
          <a:blip r:embed="rId5"/>
          <a:stretch>
            <a:fillRect/>
          </a:stretch>
        </p:blipFill>
        <p:spPr>
          <a:xfrm>
            <a:off x="6881779" y="1343419"/>
            <a:ext cx="4194816" cy="914919"/>
          </a:xfrm>
          <a:prstGeom prst="rect">
            <a:avLst/>
          </a:prstGeom>
        </p:spPr>
      </p:pic>
      <p:pic>
        <p:nvPicPr>
          <p:cNvPr id="5" name="Picture 4">
            <a:extLst>
              <a:ext uri="{FF2B5EF4-FFF2-40B4-BE49-F238E27FC236}">
                <a16:creationId xmlns:a16="http://schemas.microsoft.com/office/drawing/2014/main" id="{22A0A45C-DC32-ABFD-EF14-9CB898ABA9FF}"/>
              </a:ext>
            </a:extLst>
          </p:cNvPr>
          <p:cNvPicPr>
            <a:picLocks noChangeAspect="1"/>
          </p:cNvPicPr>
          <p:nvPr/>
        </p:nvPicPr>
        <p:blipFill>
          <a:blip r:embed="rId6"/>
          <a:stretch>
            <a:fillRect/>
          </a:stretch>
        </p:blipFill>
        <p:spPr>
          <a:xfrm>
            <a:off x="5522401" y="2504338"/>
            <a:ext cx="4478358" cy="4032063"/>
          </a:xfrm>
          <a:prstGeom prst="rect">
            <a:avLst/>
          </a:prstGeom>
          <a:ln>
            <a:solidFill>
              <a:schemeClr val="accent1"/>
            </a:solidFill>
          </a:ln>
        </p:spPr>
      </p:pic>
      <p:sp>
        <p:nvSpPr>
          <p:cNvPr id="16" name="TextBox 15">
            <a:extLst>
              <a:ext uri="{FF2B5EF4-FFF2-40B4-BE49-F238E27FC236}">
                <a16:creationId xmlns:a16="http://schemas.microsoft.com/office/drawing/2014/main" id="{98605EAE-D1C2-B99C-81FB-DF46E7ED0B91}"/>
              </a:ext>
            </a:extLst>
          </p:cNvPr>
          <p:cNvSpPr txBox="1"/>
          <p:nvPr/>
        </p:nvSpPr>
        <p:spPr>
          <a:xfrm>
            <a:off x="10136348" y="2504338"/>
            <a:ext cx="1904761" cy="1754326"/>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Every time ChatGPT hits your </a:t>
            </a:r>
            <a:r>
              <a:rPr lang="en-US" sz="1200" dirty="0" err="1">
                <a:latin typeface="Arial" panose="020B0604020202020204" pitchFamily="34" charset="0"/>
                <a:cs typeface="Arial" panose="020B0604020202020204" pitchFamily="34" charset="0"/>
              </a:rPr>
              <a:t>ngrok</a:t>
            </a:r>
            <a:r>
              <a:rPr lang="en-US" sz="1200" dirty="0">
                <a:latin typeface="Arial" panose="020B0604020202020204" pitchFamily="34" charset="0"/>
                <a:cs typeface="Arial" panose="020B0604020202020204" pitchFamily="34" charset="0"/>
              </a:rPr>
              <a:t> link with that specific path, this decorator intercepts the call, wakes up the Python code below it, and passes the latitude and longitude numbers into the script.</a:t>
            </a:r>
          </a:p>
        </p:txBody>
      </p:sp>
    </p:spTree>
    <p:extLst>
      <p:ext uri="{BB962C8B-B14F-4D97-AF65-F5344CB8AC3E}">
        <p14:creationId xmlns:p14="http://schemas.microsoft.com/office/powerpoint/2010/main" val="47069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47A56-996B-F35D-D955-97EE6B3694B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2F74516-BB68-7A85-B012-17ADD91A9597}"/>
              </a:ext>
            </a:extLst>
          </p:cNvPr>
          <p:cNvSpPr txBox="1"/>
          <p:nvPr/>
        </p:nvSpPr>
        <p:spPr>
          <a:xfrm>
            <a:off x="278068" y="239655"/>
            <a:ext cx="11626549"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How does ChatGPT use YAML blueprint? </a:t>
            </a:r>
          </a:p>
        </p:txBody>
      </p:sp>
      <p:sp>
        <p:nvSpPr>
          <p:cNvPr id="5" name="TextBox 4">
            <a:extLst>
              <a:ext uri="{FF2B5EF4-FFF2-40B4-BE49-F238E27FC236}">
                <a16:creationId xmlns:a16="http://schemas.microsoft.com/office/drawing/2014/main" id="{A59BFF1E-E8C9-6A7A-56C6-F12BC8E82D27}"/>
              </a:ext>
            </a:extLst>
          </p:cNvPr>
          <p:cNvSpPr txBox="1"/>
          <p:nvPr/>
        </p:nvSpPr>
        <p:spPr>
          <a:xfrm>
            <a:off x="278068" y="1235822"/>
            <a:ext cx="5365086" cy="5339923"/>
          </a:xfrm>
          <a:prstGeom prst="rect">
            <a:avLst/>
          </a:prstGeom>
          <a:noFill/>
        </p:spPr>
        <p:txBody>
          <a:bodyPr wrap="square" rtlCol="0">
            <a:spAutoFit/>
          </a:bodyPr>
          <a:lstStyle/>
          <a:p>
            <a:r>
              <a:rPr lang="en-US" sz="1100" dirty="0">
                <a:latin typeface="Arial" panose="020B0604020202020204" pitchFamily="34" charset="0"/>
                <a:cs typeface="Arial" panose="020B0604020202020204" pitchFamily="34" charset="0"/>
              </a:rPr>
              <a:t>To make ChatGPT understand and trigger your API, you do not write Python code. </a:t>
            </a:r>
          </a:p>
          <a:p>
            <a:endParaRPr lang="en-US" sz="1100" dirty="0">
              <a:latin typeface="Arial" panose="020B0604020202020204" pitchFamily="34" charset="0"/>
              <a:cs typeface="Arial" panose="020B0604020202020204" pitchFamily="34" charset="0"/>
            </a:endParaRPr>
          </a:p>
          <a:p>
            <a:r>
              <a:rPr lang="en-US" sz="1100" dirty="0">
                <a:latin typeface="Arial" panose="020B0604020202020204" pitchFamily="34" charset="0"/>
                <a:cs typeface="Arial" panose="020B0604020202020204" pitchFamily="34" charset="0"/>
              </a:rPr>
              <a:t>Instead, you write a text blueprint called an </a:t>
            </a:r>
            <a:r>
              <a:rPr lang="en-US" sz="1100" dirty="0" err="1">
                <a:latin typeface="Arial" panose="020B0604020202020204" pitchFamily="34" charset="0"/>
                <a:cs typeface="Arial" panose="020B0604020202020204" pitchFamily="34" charset="0"/>
              </a:rPr>
              <a:t>OpenAPI</a:t>
            </a:r>
            <a:r>
              <a:rPr lang="en-US" sz="1100" dirty="0">
                <a:latin typeface="Arial" panose="020B0604020202020204" pitchFamily="34" charset="0"/>
                <a:cs typeface="Arial" panose="020B0604020202020204" pitchFamily="34" charset="0"/>
              </a:rPr>
              <a:t> Schema (usually written in YAML format).</a:t>
            </a:r>
          </a:p>
          <a:p>
            <a:endParaRPr lang="en-US" sz="1100" dirty="0">
              <a:latin typeface="Arial" panose="020B0604020202020204" pitchFamily="34" charset="0"/>
              <a:cs typeface="Arial" panose="020B0604020202020204" pitchFamily="34" charset="0"/>
            </a:endParaRPr>
          </a:p>
          <a:p>
            <a:r>
              <a:rPr lang="en-US" sz="1100" b="1" dirty="0">
                <a:latin typeface="Arial" panose="020B0604020202020204" pitchFamily="34" charset="0"/>
                <a:cs typeface="Arial" panose="020B0604020202020204" pitchFamily="34" charset="0"/>
              </a:rPr>
              <a:t>How ChatGPT Reads and Uses The YAML</a:t>
            </a:r>
          </a:p>
          <a:p>
            <a:endParaRPr lang="en-US" sz="1100" dirty="0">
              <a:latin typeface="Arial" panose="020B0604020202020204" pitchFamily="34" charset="0"/>
              <a:cs typeface="Arial" panose="020B0604020202020204" pitchFamily="34" charset="0"/>
            </a:endParaRPr>
          </a:p>
          <a:p>
            <a:r>
              <a:rPr lang="en-US" sz="1100" u="sng" dirty="0">
                <a:latin typeface="Arial" panose="020B0604020202020204" pitchFamily="34" charset="0"/>
                <a:cs typeface="Arial" panose="020B0604020202020204" pitchFamily="34" charset="0"/>
              </a:rPr>
              <a:t>The Server Link (servers/</a:t>
            </a:r>
            <a:r>
              <a:rPr lang="en-US" sz="1100" u="sng" dirty="0" err="1">
                <a:latin typeface="Arial" panose="020B0604020202020204" pitchFamily="34" charset="0"/>
                <a:cs typeface="Arial" panose="020B0604020202020204" pitchFamily="34" charset="0"/>
              </a:rPr>
              <a:t>url</a:t>
            </a:r>
            <a:r>
              <a:rPr lang="en-US" sz="1100" u="sng" dirty="0">
                <a:latin typeface="Arial" panose="020B0604020202020204" pitchFamily="34" charset="0"/>
                <a:cs typeface="Arial" panose="020B0604020202020204" pitchFamily="34" charset="0"/>
              </a:rPr>
              <a:t>): </a:t>
            </a:r>
          </a:p>
          <a:p>
            <a:endParaRPr lang="en-US" sz="1100" dirty="0">
              <a:latin typeface="Arial" panose="020B0604020202020204" pitchFamily="34" charset="0"/>
              <a:cs typeface="Arial" panose="020B0604020202020204" pitchFamily="34" charset="0"/>
            </a:endParaRPr>
          </a:p>
          <a:p>
            <a:r>
              <a:rPr lang="en-US" sz="1100" dirty="0">
                <a:latin typeface="Arial" panose="020B0604020202020204" pitchFamily="34" charset="0"/>
                <a:cs typeface="Arial" panose="020B0604020202020204" pitchFamily="34" charset="0"/>
              </a:rPr>
              <a:t>ChatGPT uses this base address to know exactly where your local computer is hiding on the internet.</a:t>
            </a:r>
          </a:p>
          <a:p>
            <a:endParaRPr lang="en-US" sz="1100" dirty="0">
              <a:latin typeface="Arial" panose="020B0604020202020204" pitchFamily="34" charset="0"/>
              <a:cs typeface="Arial" panose="020B0604020202020204" pitchFamily="34" charset="0"/>
            </a:endParaRPr>
          </a:p>
          <a:p>
            <a:r>
              <a:rPr lang="en-US" sz="1100" u="sng" dirty="0">
                <a:latin typeface="Arial" panose="020B0604020202020204" pitchFamily="34" charset="0"/>
                <a:cs typeface="Arial" panose="020B0604020202020204" pitchFamily="34" charset="0"/>
              </a:rPr>
              <a:t>The Path (/get-forecast): </a:t>
            </a:r>
          </a:p>
          <a:p>
            <a:endParaRPr lang="en-US" sz="1100" dirty="0">
              <a:latin typeface="Arial" panose="020B0604020202020204" pitchFamily="34" charset="0"/>
              <a:cs typeface="Arial" panose="020B0604020202020204" pitchFamily="34" charset="0"/>
            </a:endParaRPr>
          </a:p>
          <a:p>
            <a:r>
              <a:rPr lang="en-US" sz="1100" dirty="0">
                <a:latin typeface="Arial" panose="020B0604020202020204" pitchFamily="34" charset="0"/>
                <a:cs typeface="Arial" panose="020B0604020202020204" pitchFamily="34" charset="0"/>
              </a:rPr>
              <a:t>ChatGPT sees this and knows it needs to append this path to the end of your </a:t>
            </a:r>
            <a:r>
              <a:rPr lang="en-US" sz="1100" dirty="0" err="1">
                <a:latin typeface="Arial" panose="020B0604020202020204" pitchFamily="34" charset="0"/>
                <a:cs typeface="Arial" panose="020B0604020202020204" pitchFamily="34" charset="0"/>
              </a:rPr>
              <a:t>ngrok</a:t>
            </a:r>
            <a:r>
              <a:rPr lang="en-US" sz="1100" dirty="0">
                <a:latin typeface="Arial" panose="020B0604020202020204" pitchFamily="34" charset="0"/>
                <a:cs typeface="Arial" panose="020B0604020202020204" pitchFamily="34" charset="0"/>
              </a:rPr>
              <a:t> link.</a:t>
            </a:r>
          </a:p>
          <a:p>
            <a:endParaRPr lang="en-US" sz="1100" dirty="0">
              <a:latin typeface="Arial" panose="020B0604020202020204" pitchFamily="34" charset="0"/>
              <a:cs typeface="Arial" panose="020B0604020202020204" pitchFamily="34" charset="0"/>
            </a:endParaRPr>
          </a:p>
          <a:p>
            <a:r>
              <a:rPr lang="en-US" sz="1100" u="sng" dirty="0">
                <a:latin typeface="Arial" panose="020B0604020202020204" pitchFamily="34" charset="0"/>
                <a:cs typeface="Arial" panose="020B0604020202020204" pitchFamily="34" charset="0"/>
              </a:rPr>
              <a:t>The Parameters (</a:t>
            </a:r>
            <a:r>
              <a:rPr lang="en-US" sz="1100" u="sng" dirty="0" err="1">
                <a:latin typeface="Arial" panose="020B0604020202020204" pitchFamily="34" charset="0"/>
                <a:cs typeface="Arial" panose="020B0604020202020204" pitchFamily="34" charset="0"/>
              </a:rPr>
              <a:t>lat</a:t>
            </a:r>
            <a:r>
              <a:rPr lang="en-US" sz="1100" u="sng" dirty="0">
                <a:latin typeface="Arial" panose="020B0604020202020204" pitchFamily="34" charset="0"/>
                <a:cs typeface="Arial" panose="020B0604020202020204" pitchFamily="34" charset="0"/>
              </a:rPr>
              <a:t> and </a:t>
            </a:r>
            <a:r>
              <a:rPr lang="en-US" sz="1100" u="sng" dirty="0" err="1">
                <a:latin typeface="Arial" panose="020B0604020202020204" pitchFamily="34" charset="0"/>
                <a:cs typeface="Arial" panose="020B0604020202020204" pitchFamily="34" charset="0"/>
              </a:rPr>
              <a:t>lon</a:t>
            </a:r>
            <a:r>
              <a:rPr lang="en-US" sz="1100" u="sng" dirty="0">
                <a:latin typeface="Arial" panose="020B0604020202020204" pitchFamily="34" charset="0"/>
                <a:cs typeface="Arial" panose="020B0604020202020204" pitchFamily="34" charset="0"/>
              </a:rPr>
              <a:t>): </a:t>
            </a:r>
          </a:p>
          <a:p>
            <a:endParaRPr lang="en-US" sz="1100" dirty="0">
              <a:latin typeface="Arial" panose="020B0604020202020204" pitchFamily="34" charset="0"/>
              <a:cs typeface="Arial" panose="020B0604020202020204" pitchFamily="34" charset="0"/>
            </a:endParaRPr>
          </a:p>
          <a:p>
            <a:r>
              <a:rPr lang="en-US" sz="1100" dirty="0">
                <a:latin typeface="Arial" panose="020B0604020202020204" pitchFamily="34" charset="0"/>
                <a:cs typeface="Arial" panose="020B0604020202020204" pitchFamily="34" charset="0"/>
              </a:rPr>
              <a:t>ChatGPT reads the descriptions. </a:t>
            </a:r>
          </a:p>
          <a:p>
            <a:endParaRPr lang="en-US" sz="1100" dirty="0">
              <a:latin typeface="Arial" panose="020B0604020202020204" pitchFamily="34" charset="0"/>
              <a:cs typeface="Arial" panose="020B0604020202020204" pitchFamily="34" charset="0"/>
            </a:endParaRPr>
          </a:p>
          <a:p>
            <a:r>
              <a:rPr lang="en-US" sz="1100" dirty="0">
                <a:latin typeface="Arial" panose="020B0604020202020204" pitchFamily="34" charset="0"/>
                <a:cs typeface="Arial" panose="020B0604020202020204" pitchFamily="34" charset="0"/>
              </a:rPr>
              <a:t>Because it is smart, it says: "Oh! The user asked about Portland, Maine. </a:t>
            </a:r>
          </a:p>
          <a:p>
            <a:endParaRPr lang="en-US" sz="1100" dirty="0">
              <a:latin typeface="Arial" panose="020B0604020202020204" pitchFamily="34" charset="0"/>
              <a:cs typeface="Arial" panose="020B0604020202020204" pitchFamily="34" charset="0"/>
            </a:endParaRPr>
          </a:p>
          <a:p>
            <a:r>
              <a:rPr lang="en-US" sz="1100" dirty="0">
                <a:latin typeface="Arial" panose="020B0604020202020204" pitchFamily="34" charset="0"/>
                <a:cs typeface="Arial" panose="020B0604020202020204" pitchFamily="34" charset="0"/>
              </a:rPr>
              <a:t>I know Portland is at latitude 43.6615 and longitude -70.2553. </a:t>
            </a:r>
          </a:p>
          <a:p>
            <a:endParaRPr lang="en-US" sz="1100" dirty="0">
              <a:latin typeface="Arial" panose="020B0604020202020204" pitchFamily="34" charset="0"/>
              <a:cs typeface="Arial" panose="020B0604020202020204" pitchFamily="34" charset="0"/>
            </a:endParaRPr>
          </a:p>
          <a:p>
            <a:r>
              <a:rPr lang="en-US" sz="1100" dirty="0">
                <a:latin typeface="Arial" panose="020B0604020202020204" pitchFamily="34" charset="0"/>
                <a:cs typeface="Arial" panose="020B0604020202020204" pitchFamily="34" charset="0"/>
              </a:rPr>
              <a:t>I will plug those numbers right into these required slots.”</a:t>
            </a:r>
          </a:p>
          <a:p>
            <a:endParaRPr lang="en-US" sz="1100" dirty="0">
              <a:latin typeface="Arial" panose="020B0604020202020204" pitchFamily="34" charset="0"/>
              <a:cs typeface="Arial" panose="020B0604020202020204" pitchFamily="34" charset="0"/>
            </a:endParaRPr>
          </a:p>
          <a:p>
            <a:r>
              <a:rPr lang="en-US" sz="1100" u="sng" dirty="0">
                <a:latin typeface="Arial" panose="020B0604020202020204" pitchFamily="34" charset="0"/>
                <a:cs typeface="Arial" panose="020B0604020202020204" pitchFamily="34" charset="0"/>
              </a:rPr>
              <a:t>The Action: </a:t>
            </a:r>
          </a:p>
          <a:p>
            <a:endParaRPr lang="en-US" sz="1100" dirty="0">
              <a:latin typeface="Arial" panose="020B0604020202020204" pitchFamily="34" charset="0"/>
              <a:cs typeface="Arial" panose="020B0604020202020204" pitchFamily="34" charset="0"/>
            </a:endParaRPr>
          </a:p>
          <a:p>
            <a:r>
              <a:rPr lang="en-US" sz="1100" dirty="0">
                <a:latin typeface="Arial" panose="020B0604020202020204" pitchFamily="34" charset="0"/>
                <a:cs typeface="Arial" panose="020B0604020202020204" pitchFamily="34" charset="0"/>
              </a:rPr>
              <a:t>ChatGPT bundles it all together and sends the final GET request directly down your </a:t>
            </a:r>
            <a:r>
              <a:rPr lang="en-US" sz="1100" dirty="0" err="1">
                <a:latin typeface="Arial" panose="020B0604020202020204" pitchFamily="34" charset="0"/>
                <a:cs typeface="Arial" panose="020B0604020202020204" pitchFamily="34" charset="0"/>
              </a:rPr>
              <a:t>ngrok</a:t>
            </a:r>
            <a:r>
              <a:rPr lang="en-US" sz="1100" dirty="0">
                <a:latin typeface="Arial" panose="020B0604020202020204" pitchFamily="34" charset="0"/>
                <a:cs typeface="Arial" panose="020B0604020202020204" pitchFamily="34" charset="0"/>
              </a:rPr>
              <a:t> tunnel to your </a:t>
            </a:r>
            <a:r>
              <a:rPr lang="en-US" sz="1100" dirty="0" err="1">
                <a:latin typeface="Arial" panose="020B0604020202020204" pitchFamily="34" charset="0"/>
                <a:cs typeface="Arial" panose="020B0604020202020204" pitchFamily="34" charset="0"/>
              </a:rPr>
              <a:t>FastAPI</a:t>
            </a:r>
            <a:r>
              <a:rPr lang="en-US" sz="1100" dirty="0">
                <a:latin typeface="Arial" panose="020B0604020202020204" pitchFamily="34" charset="0"/>
                <a:cs typeface="Arial" panose="020B0604020202020204" pitchFamily="34" charset="0"/>
              </a:rPr>
              <a:t> app.</a:t>
            </a:r>
          </a:p>
        </p:txBody>
      </p:sp>
      <p:pic>
        <p:nvPicPr>
          <p:cNvPr id="11" name="Picture 10">
            <a:extLst>
              <a:ext uri="{FF2B5EF4-FFF2-40B4-BE49-F238E27FC236}">
                <a16:creationId xmlns:a16="http://schemas.microsoft.com/office/drawing/2014/main" id="{D9694BA6-8D10-88A5-4B9A-6C850D0F95F9}"/>
              </a:ext>
            </a:extLst>
          </p:cNvPr>
          <p:cNvPicPr>
            <a:picLocks noChangeAspect="1"/>
          </p:cNvPicPr>
          <p:nvPr/>
        </p:nvPicPr>
        <p:blipFill>
          <a:blip r:embed="rId2"/>
          <a:stretch>
            <a:fillRect/>
          </a:stretch>
        </p:blipFill>
        <p:spPr>
          <a:xfrm>
            <a:off x="6396699" y="1836281"/>
            <a:ext cx="5441775" cy="4139006"/>
          </a:xfrm>
          <a:prstGeom prst="rect">
            <a:avLst/>
          </a:prstGeom>
          <a:ln>
            <a:solidFill>
              <a:schemeClr val="tx1"/>
            </a:solidFill>
          </a:ln>
        </p:spPr>
      </p:pic>
      <p:cxnSp>
        <p:nvCxnSpPr>
          <p:cNvPr id="13" name="Straight Arrow Connector 12">
            <a:extLst>
              <a:ext uri="{FF2B5EF4-FFF2-40B4-BE49-F238E27FC236}">
                <a16:creationId xmlns:a16="http://schemas.microsoft.com/office/drawing/2014/main" id="{7ED9E2FC-B49F-73D2-0B03-3807B3F9107E}"/>
              </a:ext>
            </a:extLst>
          </p:cNvPr>
          <p:cNvCxnSpPr/>
          <p:nvPr/>
        </p:nvCxnSpPr>
        <p:spPr>
          <a:xfrm>
            <a:off x="2263366" y="2534970"/>
            <a:ext cx="4264183" cy="4345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0129FF4B-5607-2A27-A06F-5875CEBD4BEA}"/>
              </a:ext>
            </a:extLst>
          </p:cNvPr>
          <p:cNvCxnSpPr>
            <a:cxnSpLocks/>
          </p:cNvCxnSpPr>
          <p:nvPr/>
        </p:nvCxnSpPr>
        <p:spPr>
          <a:xfrm flipV="1">
            <a:off x="2027976" y="3250194"/>
            <a:ext cx="4499573" cy="1788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B3F1CB6D-0DA6-8AB3-9A73-E32135F686BD}"/>
              </a:ext>
            </a:extLst>
          </p:cNvPr>
          <p:cNvCxnSpPr>
            <a:cxnSpLocks/>
          </p:cNvCxnSpPr>
          <p:nvPr/>
        </p:nvCxnSpPr>
        <p:spPr>
          <a:xfrm flipV="1">
            <a:off x="2353901" y="3919832"/>
            <a:ext cx="4526733" cy="3488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A989CBE7-3AD0-546D-1AAF-125502D1FBF2}"/>
              </a:ext>
            </a:extLst>
          </p:cNvPr>
          <p:cNvCxnSpPr>
            <a:cxnSpLocks/>
          </p:cNvCxnSpPr>
          <p:nvPr/>
        </p:nvCxnSpPr>
        <p:spPr>
          <a:xfrm>
            <a:off x="2353901" y="4268685"/>
            <a:ext cx="4526733" cy="4908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5377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5F7B9-FAC7-6398-758F-1AB6FD89E95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667EBB3-2A44-C130-C1AD-BD1F1A169423}"/>
              </a:ext>
            </a:extLst>
          </p:cNvPr>
          <p:cNvSpPr txBox="1"/>
          <p:nvPr/>
        </p:nvSpPr>
        <p:spPr>
          <a:xfrm>
            <a:off x="278068" y="239655"/>
            <a:ext cx="11626549"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Tt</a:t>
            </a:r>
          </a:p>
        </p:txBody>
      </p:sp>
      <p:sp>
        <p:nvSpPr>
          <p:cNvPr id="5" name="TextBox 4">
            <a:extLst>
              <a:ext uri="{FF2B5EF4-FFF2-40B4-BE49-F238E27FC236}">
                <a16:creationId xmlns:a16="http://schemas.microsoft.com/office/drawing/2014/main" id="{CAA3B384-084D-AB18-69A0-AA227B5E5768}"/>
              </a:ext>
            </a:extLst>
          </p:cNvPr>
          <p:cNvSpPr txBox="1"/>
          <p:nvPr/>
        </p:nvSpPr>
        <p:spPr>
          <a:xfrm>
            <a:off x="278068" y="1148876"/>
            <a:ext cx="5365086"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Tt</a:t>
            </a:r>
          </a:p>
        </p:txBody>
      </p:sp>
    </p:spTree>
    <p:extLst>
      <p:ext uri="{BB962C8B-B14F-4D97-AF65-F5344CB8AC3E}">
        <p14:creationId xmlns:p14="http://schemas.microsoft.com/office/powerpoint/2010/main" val="1955695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46D8E-C781-3582-D462-5C6FB0E0D64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B9191CC-90E5-6A70-3560-B05B6A6BE5B8}"/>
              </a:ext>
            </a:extLst>
          </p:cNvPr>
          <p:cNvSpPr txBox="1"/>
          <p:nvPr/>
        </p:nvSpPr>
        <p:spPr>
          <a:xfrm>
            <a:off x="278068" y="239655"/>
            <a:ext cx="11626549"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Tt</a:t>
            </a:r>
          </a:p>
        </p:txBody>
      </p:sp>
      <p:sp>
        <p:nvSpPr>
          <p:cNvPr id="5" name="TextBox 4">
            <a:extLst>
              <a:ext uri="{FF2B5EF4-FFF2-40B4-BE49-F238E27FC236}">
                <a16:creationId xmlns:a16="http://schemas.microsoft.com/office/drawing/2014/main" id="{CBC35D37-172C-9EC7-A5F8-6F5DE83744AB}"/>
              </a:ext>
            </a:extLst>
          </p:cNvPr>
          <p:cNvSpPr txBox="1"/>
          <p:nvPr/>
        </p:nvSpPr>
        <p:spPr>
          <a:xfrm>
            <a:off x="278068" y="1148876"/>
            <a:ext cx="5365086"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Tt</a:t>
            </a:r>
          </a:p>
        </p:txBody>
      </p:sp>
    </p:spTree>
    <p:extLst>
      <p:ext uri="{BB962C8B-B14F-4D97-AF65-F5344CB8AC3E}">
        <p14:creationId xmlns:p14="http://schemas.microsoft.com/office/powerpoint/2010/main" val="42137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B1498-F9F4-D7BB-C2FD-E8D4F860A26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BA0B1CD-64E5-1D43-6427-C0DDC0B8F021}"/>
              </a:ext>
            </a:extLst>
          </p:cNvPr>
          <p:cNvSpPr txBox="1"/>
          <p:nvPr/>
        </p:nvSpPr>
        <p:spPr>
          <a:xfrm>
            <a:off x="278068" y="239655"/>
            <a:ext cx="11626549"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Tt</a:t>
            </a:r>
          </a:p>
        </p:txBody>
      </p:sp>
      <p:sp>
        <p:nvSpPr>
          <p:cNvPr id="5" name="TextBox 4">
            <a:extLst>
              <a:ext uri="{FF2B5EF4-FFF2-40B4-BE49-F238E27FC236}">
                <a16:creationId xmlns:a16="http://schemas.microsoft.com/office/drawing/2014/main" id="{86501A3C-48A7-E447-C3C8-30CBE2F9A549}"/>
              </a:ext>
            </a:extLst>
          </p:cNvPr>
          <p:cNvSpPr txBox="1"/>
          <p:nvPr/>
        </p:nvSpPr>
        <p:spPr>
          <a:xfrm>
            <a:off x="278068" y="1148876"/>
            <a:ext cx="5365086"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Tt</a:t>
            </a:r>
          </a:p>
        </p:txBody>
      </p:sp>
    </p:spTree>
    <p:extLst>
      <p:ext uri="{BB962C8B-B14F-4D97-AF65-F5344CB8AC3E}">
        <p14:creationId xmlns:p14="http://schemas.microsoft.com/office/powerpoint/2010/main" val="26536631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defRPr sz="1200"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34387</TotalTime>
  <Words>694</Words>
  <Application>Microsoft Macintosh PowerPoint</Application>
  <PresentationFormat>Widescreen</PresentationFormat>
  <Paragraphs>90</Paragraphs>
  <Slides>13</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project detailed description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Morin, Steve</dc:creator>
  <cp:lastModifiedBy>Morin, Steve</cp:lastModifiedBy>
  <cp:revision>7</cp:revision>
  <dcterms:created xsi:type="dcterms:W3CDTF">2025-08-22T17:43:42Z</dcterms:created>
  <dcterms:modified xsi:type="dcterms:W3CDTF">2026-07-19T16:14:57Z</dcterms:modified>
</cp:coreProperties>
</file>